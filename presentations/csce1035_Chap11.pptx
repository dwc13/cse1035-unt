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90" r:id="rId5"/>
    <p:sldId id="1378" r:id="rId6"/>
    <p:sldId id="1379" r:id="rId7"/>
    <p:sldId id="1386" r:id="rId8"/>
    <p:sldId id="1380" r:id="rId9"/>
    <p:sldId id="1383" r:id="rId10"/>
    <p:sldId id="1387" r:id="rId11"/>
    <p:sldId id="1381" r:id="rId12"/>
    <p:sldId id="1384" r:id="rId13"/>
    <p:sldId id="1397" r:id="rId14"/>
    <p:sldId id="1205" r:id="rId15"/>
    <p:sldId id="1398" r:id="rId16"/>
    <p:sldId id="1382" r:id="rId17"/>
    <p:sldId id="1393" r:id="rId18"/>
    <p:sldId id="1385" r:id="rId19"/>
    <p:sldId id="1394" r:id="rId20"/>
    <p:sldId id="1388" r:id="rId21"/>
    <p:sldId id="1389" r:id="rId22"/>
    <p:sldId id="1395" r:id="rId23"/>
    <p:sldId id="1396" r:id="rId24"/>
    <p:sldId id="1390" r:id="rId25"/>
    <p:sldId id="1391" r:id="rId26"/>
    <p:sldId id="139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56D378-98E6-5845-9945-5079AEF41A68}">
          <p14:sldIdLst>
            <p14:sldId id="290"/>
            <p14:sldId id="1378"/>
            <p14:sldId id="1379"/>
            <p14:sldId id="1386"/>
            <p14:sldId id="1380"/>
            <p14:sldId id="1383"/>
            <p14:sldId id="1387"/>
            <p14:sldId id="1381"/>
            <p14:sldId id="1384"/>
            <p14:sldId id="1397"/>
            <p14:sldId id="1205"/>
            <p14:sldId id="1398"/>
            <p14:sldId id="1382"/>
            <p14:sldId id="1393"/>
            <p14:sldId id="1385"/>
            <p14:sldId id="1394"/>
            <p14:sldId id="1388"/>
            <p14:sldId id="1389"/>
            <p14:sldId id="1395"/>
            <p14:sldId id="1396"/>
            <p14:sldId id="1390"/>
            <p14:sldId id="1391"/>
            <p14:sldId id="1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02F0"/>
    <a:srgbClr val="017B3B"/>
    <a:srgbClr val="00EA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886138-EA6A-B24C-A2A7-028F9BC868AD}" v="482" dt="2025-11-01T06:24:09.6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87" autoAdjust="0"/>
    <p:restoredTop sz="95263"/>
  </p:normalViewPr>
  <p:slideViewPr>
    <p:cSldViewPr snapToGrid="0">
      <p:cViewPr varScale="1">
        <p:scale>
          <a:sx n="129" d="100"/>
          <a:sy n="129" d="100"/>
        </p:scale>
        <p:origin x="216" y="400"/>
      </p:cViewPr>
      <p:guideLst/>
    </p:cSldViewPr>
  </p:slideViewPr>
  <p:outlineViewPr>
    <p:cViewPr>
      <p:scale>
        <a:sx n="33" d="100"/>
        <a:sy n="33" d="100"/>
      </p:scale>
      <p:origin x="0" y="-6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rillo, Dominic" userId="6ed2a38d-63f6-43c9-9169-2b535d273e11" providerId="ADAL" clId="{2893067E-94FD-5AE6-A762-E83064E26916}"/>
    <pc:docChg chg="custSel addSld delSld modSld sldOrd modSection">
      <pc:chgData name="Carrillo, Dominic" userId="6ed2a38d-63f6-43c9-9169-2b535d273e11" providerId="ADAL" clId="{2893067E-94FD-5AE6-A762-E83064E26916}" dt="2025-11-03T23:01:31.541" v="55" actId="2696"/>
      <pc:docMkLst>
        <pc:docMk/>
      </pc:docMkLst>
      <pc:sldChg chg="modSp new del mod ord">
        <pc:chgData name="Carrillo, Dominic" userId="6ed2a38d-63f6-43c9-9169-2b535d273e11" providerId="ADAL" clId="{2893067E-94FD-5AE6-A762-E83064E26916}" dt="2025-11-03T23:01:31.541" v="55" actId="2696"/>
        <pc:sldMkLst>
          <pc:docMk/>
          <pc:sldMk cId="1773267431" sldId="1400"/>
        </pc:sldMkLst>
        <pc:spChg chg="mod">
          <ac:chgData name="Carrillo, Dominic" userId="6ed2a38d-63f6-43c9-9169-2b535d273e11" providerId="ADAL" clId="{2893067E-94FD-5AE6-A762-E83064E26916}" dt="2025-11-03T21:46:02.560" v="54" actId="20577"/>
          <ac:spMkLst>
            <pc:docMk/>
            <pc:sldMk cId="1773267431" sldId="1400"/>
            <ac:spMk id="3" creationId="{018E827D-8DB4-F581-5C58-ECAADC89E27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14987-8341-4B4A-9D74-2B70D5F2049E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07E44-7A89-584B-9B53-5E54070DC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1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07E44-7A89-584B-9B53-5E54070DCF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1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B9DC-A951-6D0E-E2A3-88731B2E3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2098979"/>
            <a:ext cx="10515600" cy="1587261"/>
          </a:xfrm>
        </p:spPr>
        <p:txBody>
          <a:bodyPr anchor="b"/>
          <a:lstStyle>
            <a:lvl1pPr algn="ctr">
              <a:defRPr sz="6000">
                <a:solidFill>
                  <a:srgbClr val="017B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067B9-30EC-6675-60FC-0E7AC011A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0064"/>
            <a:ext cx="9144000" cy="2064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A07-0A8D-A181-ED52-8A6FFCA2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F769D-EA03-A279-D1B6-A7378C8FA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5C786-93AD-DAAC-58E2-82D7A150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34432-F6DA-0627-8FB4-8D2983E7002E}"/>
              </a:ext>
            </a:extLst>
          </p:cNvPr>
          <p:cNvSpPr/>
          <p:nvPr userDrawn="1"/>
        </p:nvSpPr>
        <p:spPr>
          <a:xfrm>
            <a:off x="9966960" y="64008"/>
            <a:ext cx="2225040" cy="116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62D169D-4D07-8D30-CC8A-17BD61B26B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4825" y="377889"/>
            <a:ext cx="4202350" cy="18288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DD3A3E-5289-2451-B954-C6FF5EE5DBAF}"/>
              </a:ext>
            </a:extLst>
          </p:cNvPr>
          <p:cNvCxnSpPr>
            <a:cxnSpLocks/>
          </p:cNvCxnSpPr>
          <p:nvPr userDrawn="1"/>
        </p:nvCxnSpPr>
        <p:spPr>
          <a:xfrm>
            <a:off x="1524000" y="2093976"/>
            <a:ext cx="9144000" cy="0"/>
          </a:xfrm>
          <a:prstGeom prst="line">
            <a:avLst/>
          </a:prstGeom>
          <a:ln w="28575">
            <a:solidFill>
              <a:srgbClr val="01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13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6703-68DE-C626-C8EB-7C8EEF40E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417" y="216618"/>
            <a:ext cx="10515600" cy="928837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2F5C-2400-55A6-AFB1-34AA6289B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6" y="1222259"/>
            <a:ext cx="10985383" cy="49855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3E3A3-08AB-B128-F61D-9EE3E96F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02DB5-A99F-B613-AF5B-01952443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1C72-E116-8766-8A03-7D44EA68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62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0EE5-5F2D-2F33-4950-F2A3BF13A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4B4A3-D74C-28DE-DE10-7E5D4A27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DB86C-3B72-F724-26BE-F8E87554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9C03-E289-6C89-7A3E-627A85D2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B2F14-A0D5-B50F-7B0A-4418908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1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0EE5-5F2D-2F33-4950-F2A3BF13A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4B4A3-D74C-28DE-DE10-7E5D4A278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DB86C-3B72-F724-26BE-F8E87554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9C03-E289-6C89-7A3E-627A85D2A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B2F14-A0D5-B50F-7B0A-4418908D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62B69-E635-549A-B90E-AA786E3A88A2}"/>
              </a:ext>
            </a:extLst>
          </p:cNvPr>
          <p:cNvSpPr/>
          <p:nvPr userDrawn="1"/>
        </p:nvSpPr>
        <p:spPr>
          <a:xfrm>
            <a:off x="9966960" y="64008"/>
            <a:ext cx="2225040" cy="116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EB0D35C-3312-5F33-5211-AC1FCA997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354" y="1712913"/>
            <a:ext cx="4202350" cy="18288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4BABE0-F653-C572-3324-26DBA7A54CE6}"/>
              </a:ext>
            </a:extLst>
          </p:cNvPr>
          <p:cNvCxnSpPr/>
          <p:nvPr userDrawn="1"/>
        </p:nvCxnSpPr>
        <p:spPr>
          <a:xfrm>
            <a:off x="822960" y="3429000"/>
            <a:ext cx="9144000" cy="0"/>
          </a:xfrm>
          <a:prstGeom prst="line">
            <a:avLst/>
          </a:prstGeom>
          <a:ln w="28575">
            <a:solidFill>
              <a:srgbClr val="01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74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13634-8451-6C98-193A-6A71F1BFF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8415" y="1222259"/>
            <a:ext cx="5344488" cy="49352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8908F-43F6-6462-9592-D7AC39C2B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9312" y="1222258"/>
            <a:ext cx="5344488" cy="49352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94C96-40CB-A1A5-7450-2AFA4002E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AAD743-5A25-964B-BE2B-10E5E132F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AF138-C0E0-1347-F65F-D2D7997A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DD346C-27C8-CF03-5E61-5E4D10FCFAB0}"/>
              </a:ext>
            </a:extLst>
          </p:cNvPr>
          <p:cNvSpPr txBox="1">
            <a:spLocks/>
          </p:cNvSpPr>
          <p:nvPr userDrawn="1"/>
        </p:nvSpPr>
        <p:spPr>
          <a:xfrm>
            <a:off x="368417" y="216618"/>
            <a:ext cx="10515600" cy="92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58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EEC75-BCF1-271E-9887-DF5DE6207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0649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E4377-B02E-DFC9-383E-55CE526A9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451248"/>
            <a:ext cx="5157787" cy="373841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01F45-C1DA-30E7-8234-6BE596E83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46064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9B0C0C-0C77-D32A-0DF4-21E1577C0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51248"/>
            <a:ext cx="5183188" cy="373841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AC3F41-8E3A-63A4-51CE-9D5B7F31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112DD-C310-5E5C-4213-51BF36C7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4BF52-ECAA-A80A-937B-00BCEB79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A1BFF-8646-4C73-5518-D1697D85A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88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697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D656E-57E4-FBD3-43FF-9CE56041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C7426-4C9D-39DA-B3CF-E834A5B1F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1DB1A-7AE3-8B3E-C11C-91F140DA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A8D1038-B0B6-05BF-03AA-108BEB89E6A3}"/>
              </a:ext>
            </a:extLst>
          </p:cNvPr>
          <p:cNvSpPr txBox="1">
            <a:spLocks/>
          </p:cNvSpPr>
          <p:nvPr userDrawn="1"/>
        </p:nvSpPr>
        <p:spPr>
          <a:xfrm>
            <a:off x="368417" y="216618"/>
            <a:ext cx="10515600" cy="928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077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3BBFE-0F63-B8DA-470B-AF88C039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FF0C0-E8F2-334B-C5DB-715BE218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B7E6E-9654-950F-9368-7ADBF9EB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21550-3011-73D3-6630-1D74632346FB}"/>
              </a:ext>
            </a:extLst>
          </p:cNvPr>
          <p:cNvSpPr txBox="1"/>
          <p:nvPr userDrawn="1"/>
        </p:nvSpPr>
        <p:spPr>
          <a:xfrm>
            <a:off x="10817352" y="5943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5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A3BBFE-0F63-B8DA-470B-AF88C039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FF0C0-E8F2-334B-C5DB-715BE218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B7E6E-9654-950F-9368-7ADBF9EB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D79513B-9668-68FF-23C4-43EE0C1B72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8709" y="1645920"/>
            <a:ext cx="8194582" cy="3566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C94B40F-1A24-0EE0-4C08-7A11335CC2CD}"/>
              </a:ext>
            </a:extLst>
          </p:cNvPr>
          <p:cNvSpPr/>
          <p:nvPr userDrawn="1"/>
        </p:nvSpPr>
        <p:spPr>
          <a:xfrm>
            <a:off x="9966960" y="64008"/>
            <a:ext cx="2225040" cy="116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1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6073-3DF4-5150-D34E-9B336C7A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4D54C-E557-EB0D-7050-4E1C3FEB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2A2B1-2BC1-4D9F-0C07-A2DB41551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AF50D-422D-B170-8FD2-80228284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D8257-DD71-AC0A-5A6A-43FE420B2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A89C7-7C29-541A-92CD-540FCBD9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6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B572-63CE-433B-4E12-2549055E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050ECA-3343-67BD-CF3C-737A66547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6D92A-8ACF-85DF-D07B-F496001A2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A8DDC-8F4D-BF43-8A58-EC2C143C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6275B-CA41-2999-3DD3-7A8CF0B3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957846-1FA3-1EDE-9A75-84AC685CE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13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C6B33-A399-6A8A-F06B-5250E2BB0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75117"/>
            <a:ext cx="10515600" cy="47018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F0CD3-B0E7-1D1D-A994-AECCA9C0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CCDE2-E919-8CCA-A0AF-8A987003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83DBF-0617-8BE7-2262-4D3F8D65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DC553-9A8F-86B8-5EC8-7D0054F2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88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2957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AE0C7-6A34-E2D1-6D88-A5D263E10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69E4B-B2E9-80E4-1734-A6D29CCDE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D30AB-FADF-C920-B90A-84D9A5CD9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70858-5223-68D0-DB2A-E6291CE6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C4562-2459-FE9C-80C9-67C0A24A7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5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8E74A-0873-9BA4-A663-905BD1913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05BA1-E852-6BB3-79F4-12E0E0FCF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1D0F7-9C96-0B81-716E-AC3BDC2FCC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E95E6-4C13-4DE7-8167-E95406792E66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518B0-1239-9930-5783-33103D09C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7B358-5E6B-514F-3DE1-1BE218108E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7479E-D22A-41AB-82A9-A3D24B50E3A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8F54B3E-FA2E-8F21-0F73-EF99796FE12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84148" y="-115122"/>
            <a:ext cx="3151762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45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52" r:id="rId5"/>
    <p:sldLayoutId id="2147483653" r:id="rId6"/>
    <p:sldLayoutId id="2147483654" r:id="rId7"/>
    <p:sldLayoutId id="2147483655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sys.html" TargetMode="External"/><Relationship Id="rId13" Type="http://schemas.openxmlformats.org/officeDocument/2006/relationships/hyperlink" Target="https://docs.python.org/3/library/statistics.html" TargetMode="External"/><Relationship Id="rId3" Type="http://schemas.openxmlformats.org/officeDocument/2006/relationships/hyperlink" Target="https://docs.python.org/3/library/random.html" TargetMode="External"/><Relationship Id="rId7" Type="http://schemas.openxmlformats.org/officeDocument/2006/relationships/hyperlink" Target="https://docs.python.org/3/library/os.html" TargetMode="External"/><Relationship Id="rId12" Type="http://schemas.openxmlformats.org/officeDocument/2006/relationships/hyperlink" Target="https://docs.python.org/3/library/re.html" TargetMode="External"/><Relationship Id="rId2" Type="http://schemas.openxmlformats.org/officeDocument/2006/relationships/hyperlink" Target="https://docs.python.org/3/library/datetim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library/math.html" TargetMode="External"/><Relationship Id="rId11" Type="http://schemas.openxmlformats.org/officeDocument/2006/relationships/hyperlink" Target="https://docs.python.org/3/library/json.html" TargetMode="External"/><Relationship Id="rId5" Type="http://schemas.openxmlformats.org/officeDocument/2006/relationships/hyperlink" Target="https://docs.python.org/3/library/time.html" TargetMode="External"/><Relationship Id="rId15" Type="http://schemas.openxmlformats.org/officeDocument/2006/relationships/hyperlink" Target="https://docs.python.org/3/library/index.html" TargetMode="External"/><Relationship Id="rId10" Type="http://schemas.openxmlformats.org/officeDocument/2006/relationships/hyperlink" Target="https://docs.python.org/3/library/urllib.html" TargetMode="External"/><Relationship Id="rId4" Type="http://schemas.openxmlformats.org/officeDocument/2006/relationships/hyperlink" Target="https://docs.python.org/3/library/copy.html" TargetMode="External"/><Relationship Id="rId9" Type="http://schemas.openxmlformats.org/officeDocument/2006/relationships/hyperlink" Target="https://docs.python.org/3/library/pdb.html" TargetMode="External"/><Relationship Id="rId14" Type="http://schemas.openxmlformats.org/officeDocument/2006/relationships/hyperlink" Target="https://docs.python.org/3/library/pickle.html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AF90-5E51-7161-D64C-FC634FA45C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17B3B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CSCE 1035 – Computer Programming 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B9569-7CE4-0C2E-1A47-B1147E613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11 Modules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69B567-FD53-9061-17AD-688B2A08A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1F6330-A856-24BE-CAC8-34E7C5EA2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ADAFF6-1572-2F52-0C91-364E3DD5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Module?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74694D-18A0-26C5-CC96-AE9BCC981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A </a:t>
            </a:r>
            <a:r>
              <a:rPr lang="en-US" dirty="0">
                <a:solidFill>
                  <a:srgbClr val="008000"/>
                </a:solidFill>
                <a:cs typeface="Courier New" panose="02070309020205020404" pitchFamily="49" charset="0"/>
              </a:rPr>
              <a:t>module</a:t>
            </a:r>
            <a:r>
              <a:rPr lang="en-US" dirty="0">
                <a:cs typeface="Courier New" panose="02070309020205020404" pitchFamily="49" charset="0"/>
              </a:rPr>
              <a:t> groups related code into one file (ending with 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cs typeface="Courier New" panose="02070309020205020404" pitchFamily="49" charset="0"/>
              </a:rPr>
              <a:t> extension)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Can contain classes, functions, variables, and runnable statements.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i="1" dirty="0"/>
              <a:t>“Python’s way to break programs into smaller, reusable parts.”</a:t>
            </a:r>
            <a:endParaRPr lang="en-US" sz="2000" dirty="0"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Allowing you to group related Python code into a module making it: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Easier to understand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Improves organization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Allows for reusability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Each module has its own namespace – a private symbol table used as the global symbol table by all functions in the module (explained later)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4333AD-AECF-4791-CEAA-E24EB3097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917" y="5474918"/>
            <a:ext cx="3543300" cy="1028700"/>
          </a:xfrm>
          <a:prstGeom prst="rect">
            <a:avLst/>
          </a:prstGeom>
          <a:ln w="19050">
            <a:solidFill>
              <a:srgbClr val="017B3B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EB685E-36EB-DA33-CB53-36E6CE8DE112}"/>
              </a:ext>
            </a:extLst>
          </p:cNvPr>
          <p:cNvSpPr txBox="1"/>
          <p:nvPr/>
        </p:nvSpPr>
        <p:spPr>
          <a:xfrm>
            <a:off x="6650515" y="5801737"/>
            <a:ext cx="283959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is the greeting module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0D0EB5-7561-5768-8696-F816BA56754E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5626217" y="5986403"/>
            <a:ext cx="1024298" cy="2865"/>
          </a:xfrm>
          <a:prstGeom prst="straightConnector1">
            <a:avLst/>
          </a:prstGeom>
          <a:ln w="28575">
            <a:solidFill>
              <a:srgbClr val="017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910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C6277-FCF5-64B9-B159-D78BE7996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module can be imported into other modules using 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statement</a:t>
            </a:r>
          </a:p>
          <a:p>
            <a:pPr marL="400050" lvl="1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module1[, module2[,… 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moduleN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the Python interpreter encounters an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statement, it imports the module if it is present in the search path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Functions defined in the module can now be accessed with the </a:t>
            </a:r>
            <a:r>
              <a:rPr lang="en-US" dirty="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dot operator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endParaRPr lang="en-US" dirty="0">
              <a:solidFill>
                <a:srgbClr val="008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Coding practice: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statements are placed at the top of the file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Note: A module being required by another program is called a </a:t>
            </a:r>
            <a:r>
              <a:rPr lang="en-US" dirty="0">
                <a:solidFill>
                  <a:srgbClr val="008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Simple example: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573C8F-6340-B377-46F9-039E570F5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010" y="5059868"/>
            <a:ext cx="3581400" cy="1485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159EE5-8741-2C04-A20C-C1F8A073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Importing Modules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512F4-D378-65DF-8FDC-9A8A7AB9613A}"/>
              </a:ext>
            </a:extLst>
          </p:cNvPr>
          <p:cNvSpPr txBox="1"/>
          <p:nvPr/>
        </p:nvSpPr>
        <p:spPr>
          <a:xfrm>
            <a:off x="5550108" y="4897322"/>
            <a:ext cx="24293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Notice: When using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/>
              <a:t> the dot operator is used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9ED16F-A0FD-EF42-0F37-1ACD9D05BFF5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764478" y="5358987"/>
            <a:ext cx="1785630" cy="127413"/>
          </a:xfrm>
          <a:prstGeom prst="straightConnector1">
            <a:avLst/>
          </a:prstGeom>
          <a:ln w="28575">
            <a:solidFill>
              <a:srgbClr val="017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6CBC29-3F3F-9150-4943-86668E64DE60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087584" y="5358987"/>
            <a:ext cx="2462524" cy="692497"/>
          </a:xfrm>
          <a:prstGeom prst="straightConnector1">
            <a:avLst/>
          </a:prstGeom>
          <a:ln w="28575">
            <a:solidFill>
              <a:srgbClr val="017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31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E43A-2D83-939F-9BD7-A1E334AB8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F937A5-1080-68EC-E997-79C68FE74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Modules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5C51E1-2B63-DE5F-3084-DD13B43C5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079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98A1-95A6-9BA6-EF8A-133B8FB75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1759B1-2A48-41A0-F8FB-4A56E19B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Locating Modules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3FA03D-C12A-F519-C617-2963E3CC2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6" y="1213870"/>
            <a:ext cx="10985383" cy="4985593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When importing a module, the </a:t>
            </a:r>
            <a:r>
              <a:rPr lang="en-US" dirty="0"/>
              <a:t>Python interpreter searches in a specific order: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Checks </a:t>
            </a:r>
            <a:r>
              <a:rPr lang="en-US" dirty="0">
                <a:solidFill>
                  <a:srgbClr val="017B3B"/>
                </a:solidFill>
              </a:rPr>
              <a:t>Built-in modules</a:t>
            </a:r>
            <a:r>
              <a:rPr lang="en-US" dirty="0"/>
              <a:t> (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/>
              <a:t>, etc.) first.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sys.path</a:t>
            </a:r>
            <a:r>
              <a:rPr lang="en-US" dirty="0"/>
              <a:t> contains a list of directories Python searches when importing modules.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Directory of the executing script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List of directories given by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PYTHONPATH</a:t>
            </a:r>
            <a:r>
              <a:rPr lang="en-US" dirty="0">
                <a:solidFill>
                  <a:srgbClr val="2F02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environment variable</a:t>
            </a:r>
            <a:endParaRPr lang="en-US" dirty="0">
              <a:solidFill>
                <a:srgbClr val="2F02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Directory where Python is installed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3874CD8-BD56-3E5D-01FC-51ECFEAB753A}"/>
              </a:ext>
            </a:extLst>
          </p:cNvPr>
          <p:cNvGrpSpPr/>
          <p:nvPr/>
        </p:nvGrpSpPr>
        <p:grpSpPr>
          <a:xfrm>
            <a:off x="3857426" y="3020736"/>
            <a:ext cx="6411285" cy="816527"/>
            <a:chOff x="3875714" y="2983686"/>
            <a:chExt cx="6411285" cy="816527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BE378DD3-C9EA-03BA-D181-8E0D71E82A72}"/>
                </a:ext>
              </a:extLst>
            </p:cNvPr>
            <p:cNvSpPr/>
            <p:nvPr/>
          </p:nvSpPr>
          <p:spPr>
            <a:xfrm>
              <a:off x="3875714" y="3429000"/>
              <a:ext cx="1568741" cy="371213"/>
            </a:xfrm>
            <a:prstGeom prst="roundRect">
              <a:avLst/>
            </a:prstGeom>
            <a:noFill/>
            <a:ln w="19050">
              <a:solidFill>
                <a:srgbClr val="017B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0D94868-91FE-F4FC-D487-9CF1AF4C34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4455" y="3206343"/>
              <a:ext cx="1718344" cy="291072"/>
            </a:xfrm>
            <a:prstGeom prst="straightConnector1">
              <a:avLst/>
            </a:prstGeom>
            <a:ln w="38100">
              <a:solidFill>
                <a:srgbClr val="017B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A8EC696E-A118-2F17-3644-E6902CFFE35E}"/>
                </a:ext>
              </a:extLst>
            </p:cNvPr>
            <p:cNvSpPr/>
            <p:nvPr/>
          </p:nvSpPr>
          <p:spPr>
            <a:xfrm>
              <a:off x="7162799" y="2983686"/>
              <a:ext cx="3124200" cy="445314"/>
            </a:xfrm>
            <a:prstGeom prst="roundRect">
              <a:avLst/>
            </a:prstGeom>
            <a:solidFill>
              <a:srgbClr val="D4F0E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User-set Environment Variable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3F401C9-9BD6-5C15-C1FA-5D6C0A297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3" y="4198831"/>
            <a:ext cx="5019874" cy="1776439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0F53463-E227-55AC-0B03-578E886EC324}"/>
              </a:ext>
            </a:extLst>
          </p:cNvPr>
          <p:cNvSpPr/>
          <p:nvPr/>
        </p:nvSpPr>
        <p:spPr>
          <a:xfrm>
            <a:off x="6246422" y="4595751"/>
            <a:ext cx="5019874" cy="1672128"/>
          </a:xfrm>
          <a:prstGeom prst="roundRect">
            <a:avLst/>
          </a:prstGeom>
          <a:solidFill>
            <a:srgbClr val="D4F0E1"/>
          </a:solidFill>
          <a:ln w="3175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  <a:r>
              <a:rPr lang="en-US" dirty="0"/>
              <a:t> in 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PYTHONPATH</a:t>
            </a:r>
            <a:r>
              <a:rPr lang="en-US" dirty="0"/>
              <a:t>’s list of directory represents the current working directory.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124CC0-9559-9DD4-4981-8C777DBB4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6" y="5479684"/>
            <a:ext cx="4543030" cy="60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052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A63FE-0C50-5F63-462D-A7BBA7656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1837EE-1562-6D91-02C9-04088743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Locating Modules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2557D4-0F3A-4F77-1309-9BE7E002E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6" y="1213870"/>
            <a:ext cx="10985383" cy="498559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For simple programs, a module is most likely placed in the same directory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For larger projects that contain hundreds of modules or use third-party modules located in different directories.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Add directories manually to Python’s search path using environment variable by setting 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PYTHONPATH</a:t>
            </a:r>
            <a:r>
              <a:rPr lang="en-US" dirty="0">
                <a:cs typeface="Courier New" panose="02070309020205020404" pitchFamily="49" charset="0"/>
              </a:rPr>
              <a:t> environment variable.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PYTHONPATH="${PYTHONPATH}:${HOME}/bin/"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export PYTHONPATH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echo $PYTHONPATH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:/Users/</a:t>
            </a:r>
            <a:r>
              <a:rPr lang="en-US" sz="1400" b="1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US" sz="1400" b="1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/bin/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python3.14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Python 3.14.0 (main, Oct  7 2025, 09:34:52) [Clang 17.0.0 (clang-1700.0.13.3)] on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darwin</a:t>
            </a:r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 "help", "copyright", "credits" or "license" for more information.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import sys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print(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sys.path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['', '/Users/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dom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/bin', '/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/lib/python314.zip', '/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/lib/python3.14', '/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/lib/python3.14/lib-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dynload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', '/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/local/lib/python3.14/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-packages', '/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/lib/python3.14/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-packages']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2FA2F8D-7BE6-679E-8AC5-FA2084422C0C}"/>
              </a:ext>
            </a:extLst>
          </p:cNvPr>
          <p:cNvSpPr/>
          <p:nvPr/>
        </p:nvSpPr>
        <p:spPr>
          <a:xfrm>
            <a:off x="3552247" y="5644130"/>
            <a:ext cx="4617719" cy="828888"/>
          </a:xfrm>
          <a:prstGeom prst="roundRect">
            <a:avLst/>
          </a:prstGeom>
          <a:solidFill>
            <a:srgbClr val="D4F0E1"/>
          </a:solidFill>
          <a:ln w="3175"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 beginners: do not stress about this since you would rarely set 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PYTHONPATH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825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4B7BC-E2B1-ADAD-C479-9F3F3E543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1B04F9-EF37-6E09-DA91-7A7B0432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Specific Names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472133-DF12-8EB0-9D22-562B1199C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1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9DF79-8DB9-00BF-65F4-1A5E3AF6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307E69-FC4F-1399-52D7-593DE39E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Specific Names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4B6EA7-468F-92B1-B3DD-10CF3583A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 can import names (classes, functions, variables) from a module into the importing module’s symbol table using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… import …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050" dirty="0">
              <a:solidFill>
                <a:srgbClr val="2F02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name1, name2, …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spcBef>
                <a:spcPts val="0"/>
              </a:spcBef>
              <a:spcAft>
                <a:spcPts val="600"/>
              </a:spcAft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Math Module Example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30E1F8D-DC8A-0CAF-D592-53B3BD327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521432"/>
              </p:ext>
            </p:extLst>
          </p:nvPr>
        </p:nvGraphicFramePr>
        <p:xfrm>
          <a:off x="1672812" y="2603783"/>
          <a:ext cx="8846376" cy="1285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32341">
                  <a:extLst>
                    <a:ext uri="{9D8B030D-6E8A-4147-A177-3AD203B41FA5}">
                      <a16:colId xmlns:a16="http://schemas.microsoft.com/office/drawing/2014/main" val="804996700"/>
                    </a:ext>
                  </a:extLst>
                </a:gridCol>
                <a:gridCol w="3037205">
                  <a:extLst>
                    <a:ext uri="{9D8B030D-6E8A-4147-A177-3AD203B41FA5}">
                      <a16:colId xmlns:a16="http://schemas.microsoft.com/office/drawing/2014/main" val="895125082"/>
                    </a:ext>
                  </a:extLst>
                </a:gridCol>
                <a:gridCol w="2576830">
                  <a:extLst>
                    <a:ext uri="{9D8B030D-6E8A-4147-A177-3AD203B41FA5}">
                      <a16:colId xmlns:a16="http://schemas.microsoft.com/office/drawing/2014/main" val="3447108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Example Import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Using Imported 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039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Import an entire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200" dirty="0" err="1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HTTPServer</a:t>
                      </a:r>
                      <a:endParaRPr lang="en-US" sz="1200" dirty="0">
                        <a:solidFill>
                          <a:srgbClr val="2F02F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math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200" dirty="0" err="1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HTTPServer.address</a:t>
                      </a:r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</a:t>
                      </a:r>
                      <a:r>
                        <a:rPr lang="en-US" sz="1200" dirty="0" err="1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math.pi</a:t>
                      </a:r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49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Import specific name from a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200" dirty="0" err="1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HTTPServer</a:t>
                      </a:r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address</a:t>
                      </a:r>
                    </a:p>
                    <a:p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print(address)</a:t>
                      </a:r>
                    </a:p>
                    <a:p>
                      <a:r>
                        <a:rPr lang="en-US" sz="1200" dirty="0">
                          <a:solidFill>
                            <a:srgbClr val="2F02F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94768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086C8C5-17DB-CC42-FE3E-13B54193D4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38" b="1"/>
          <a:stretch>
            <a:fillRect/>
          </a:stretch>
        </p:blipFill>
        <p:spPr>
          <a:xfrm>
            <a:off x="828212" y="4308582"/>
            <a:ext cx="2631440" cy="24464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8117A9-BBA3-3BF2-B7F9-62329399B58D}"/>
              </a:ext>
            </a:extLst>
          </p:cNvPr>
          <p:cNvSpPr txBox="1"/>
          <p:nvPr/>
        </p:nvSpPr>
        <p:spPr>
          <a:xfrm>
            <a:off x="4211787" y="4984419"/>
            <a:ext cx="24293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Notice: When using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/>
              <a:t> do not need to use the dot operator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92793925-4283-88FF-C7CC-7300275996F2}"/>
              </a:ext>
            </a:extLst>
          </p:cNvPr>
          <p:cNvSpPr/>
          <p:nvPr/>
        </p:nvSpPr>
        <p:spPr>
          <a:xfrm>
            <a:off x="3743058" y="4607511"/>
            <a:ext cx="307649" cy="1677146"/>
          </a:xfrm>
          <a:prstGeom prst="rightBracket">
            <a:avLst/>
          </a:prstGeom>
          <a:ln w="38100">
            <a:solidFill>
              <a:srgbClr val="017B3B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8E56B7-32F8-4C58-3C16-49D277169779}"/>
              </a:ext>
            </a:extLst>
          </p:cNvPr>
          <p:cNvCxnSpPr>
            <a:cxnSpLocks/>
            <a:stCxn id="12" idx="2"/>
            <a:endCxn id="11" idx="1"/>
          </p:cNvCxnSpPr>
          <p:nvPr/>
        </p:nvCxnSpPr>
        <p:spPr>
          <a:xfrm>
            <a:off x="4050707" y="5446084"/>
            <a:ext cx="161080" cy="0"/>
          </a:xfrm>
          <a:prstGeom prst="line">
            <a:avLst/>
          </a:prstGeom>
          <a:ln w="38100">
            <a:solidFill>
              <a:srgbClr val="01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64C54D-2A13-1402-3BE9-74C8AF272670}"/>
              </a:ext>
            </a:extLst>
          </p:cNvPr>
          <p:cNvSpPr/>
          <p:nvPr/>
        </p:nvSpPr>
        <p:spPr>
          <a:xfrm>
            <a:off x="7240570" y="4093039"/>
            <a:ext cx="3865167" cy="2735363"/>
          </a:xfrm>
          <a:prstGeom prst="roundRect">
            <a:avLst/>
          </a:prstGeom>
          <a:solidFill>
            <a:srgbClr val="D4F0E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Can import all names from a module into current namespace using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Avoid using due to overwriting built-in names or cause confusion.</a:t>
            </a:r>
            <a:endParaRPr lang="en-US" dirty="0">
              <a:solidFill>
                <a:srgbClr val="2F02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3E8822-0166-31F8-0933-11EF2B536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842" y="4894161"/>
            <a:ext cx="2690622" cy="11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0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FC7E6-A500-4EE1-B36E-FACE4417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9AFA2-0B65-162B-AC9D-79599768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Modules as 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061F-AC87-58AE-32D0-033163EEE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6" y="1222259"/>
            <a:ext cx="11269402" cy="498559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Reminder a Python file is both a module and a script</a:t>
            </a:r>
          </a:p>
          <a:p>
            <a:endParaRPr lang="en-US" sz="1200" dirty="0">
              <a:latin typeface="Calibri" panose="020F0502020204030204" pitchFamily="34" charset="0"/>
              <a:ea typeface="MS PGothic" charset="0"/>
              <a:cs typeface="Calibri" panose="020F0502020204030204" pitchFamily="34" charset="0"/>
            </a:endParaRPr>
          </a:p>
          <a:p>
            <a:r>
              <a:rPr lang="en-US" dirty="0">
                <a:ea typeface="MS PGothic" charset="0"/>
              </a:rPr>
              <a:t>When a Python file is executed directly from the command line, </a:t>
            </a:r>
            <a:r>
              <a:rPr lang="en-US" sz="2000" dirty="0">
                <a:solidFill>
                  <a:srgbClr val="2F02F0"/>
                </a:solidFill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__name__</a:t>
            </a:r>
            <a:r>
              <a:rPr lang="en-US" dirty="0">
                <a:ea typeface="MS PGothic" charset="0"/>
              </a:rPr>
              <a:t> is set to the string </a:t>
            </a:r>
            <a:r>
              <a:rPr lang="en-US" sz="2000" dirty="0">
                <a:solidFill>
                  <a:srgbClr val="2F02F0"/>
                </a:solidFill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'__main__'</a:t>
            </a:r>
            <a:r>
              <a:rPr lang="en-US" dirty="0">
                <a:solidFill>
                  <a:srgbClr val="2F02F0"/>
                </a:solidFill>
                <a:ea typeface="MS PGothic" charset="0"/>
              </a:rPr>
              <a:t>.</a:t>
            </a:r>
            <a:endParaRPr lang="en-US" dirty="0">
              <a:solidFill>
                <a:srgbClr val="2F02F0"/>
              </a:solidFill>
              <a:latin typeface="Courier New" panose="02070309020205020404" pitchFamily="49" charset="0"/>
              <a:ea typeface="MS PGothic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ea typeface="MS PGothic" charset="0"/>
              </a:rPr>
              <a:t>If a module is being run directly, 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__name__</a:t>
            </a:r>
            <a:r>
              <a:rPr lang="en-US" dirty="0">
                <a:ea typeface="MS PGothic" charset="0"/>
              </a:rPr>
              <a:t> is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'__main__'</a:t>
            </a:r>
            <a:r>
              <a:rPr lang="en-US" dirty="0">
                <a:solidFill>
                  <a:srgbClr val="2F02F0"/>
                </a:solidFill>
                <a:ea typeface="MS PGothic" charset="0"/>
              </a:rPr>
              <a:t> </a:t>
            </a:r>
            <a:r>
              <a:rPr lang="en-US" dirty="0">
                <a:ea typeface="MS PGothic" charset="0"/>
              </a:rPr>
              <a:t>allowing the execution as a script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Command line execution by doing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python3 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filename.py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[arguments]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DE0AA-B4F5-E676-DBA6-7C9AC3660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07" y="4510485"/>
            <a:ext cx="4044244" cy="2092290"/>
          </a:xfrm>
          <a:prstGeom prst="rect">
            <a:avLst/>
          </a:prstGeom>
          <a:ln>
            <a:solidFill>
              <a:srgbClr val="017B3B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73EDC6-A3F0-EBE5-BD6A-36B697181BA7}"/>
              </a:ext>
            </a:extLst>
          </p:cNvPr>
          <p:cNvSpPr txBox="1"/>
          <p:nvPr/>
        </p:nvSpPr>
        <p:spPr>
          <a:xfrm>
            <a:off x="5093148" y="4509894"/>
            <a:ext cx="3084499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Command-line Output: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 python3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math_utils.py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Module name is: __main__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Running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math_utils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directly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+ 3 =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65291-DB54-95B3-CC75-A4B0A8098BF3}"/>
              </a:ext>
            </a:extLst>
          </p:cNvPr>
          <p:cNvSpPr txBox="1"/>
          <p:nvPr/>
        </p:nvSpPr>
        <p:spPr>
          <a:xfrm>
            <a:off x="8420877" y="6488668"/>
            <a:ext cx="3771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Taken from Chapter 2 and Chapter 6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F4A57-8B80-997F-0DBE-6AF0361AFEA0}"/>
              </a:ext>
            </a:extLst>
          </p:cNvPr>
          <p:cNvSpPr txBox="1"/>
          <p:nvPr/>
        </p:nvSpPr>
        <p:spPr>
          <a:xfrm>
            <a:off x="3384469" y="5855949"/>
            <a:ext cx="3937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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True, because __name__ is __main__</a:t>
            </a:r>
          </a:p>
        </p:txBody>
      </p:sp>
    </p:spTree>
    <p:extLst>
      <p:ext uri="{BB962C8B-B14F-4D97-AF65-F5344CB8AC3E}">
        <p14:creationId xmlns:p14="http://schemas.microsoft.com/office/powerpoint/2010/main" val="988417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FC6E-B5B4-E0EB-892A-AB10B79D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Modules as 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00A24-ED1A-DBCF-F81D-0A147F654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5" y="1222259"/>
            <a:ext cx="11495033" cy="498559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Reminder a Python file is both a module and a script</a:t>
            </a:r>
          </a:p>
          <a:p>
            <a:endParaRPr lang="en-US" sz="1200" dirty="0">
              <a:latin typeface="Calibri" panose="020F0502020204030204" pitchFamily="34" charset="0"/>
              <a:ea typeface="MS PGothic" charset="0"/>
              <a:cs typeface="Calibri" panose="020F0502020204030204" pitchFamily="34" charset="0"/>
            </a:endParaRPr>
          </a:p>
          <a:p>
            <a:r>
              <a:rPr lang="en-US" dirty="0">
                <a:ea typeface="MS PGothic" charset="0"/>
              </a:rPr>
              <a:t>When a Python file is imported, </a:t>
            </a:r>
            <a:r>
              <a:rPr lang="en-US" sz="2000" dirty="0">
                <a:solidFill>
                  <a:srgbClr val="2F02F0"/>
                </a:solidFill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__name__</a:t>
            </a:r>
            <a:r>
              <a:rPr lang="en-US" dirty="0">
                <a:ea typeface="MS PGothic" charset="0"/>
              </a:rPr>
              <a:t> is set to the module’s name (not </a:t>
            </a:r>
            <a:r>
              <a:rPr lang="en-US" sz="2000" dirty="0">
                <a:solidFill>
                  <a:srgbClr val="2F02F0"/>
                </a:solidFill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'__main__'</a:t>
            </a:r>
            <a:r>
              <a:rPr lang="en-US" dirty="0">
                <a:ea typeface="MS PGothic" charset="0"/>
              </a:rPr>
              <a:t>)</a:t>
            </a:r>
            <a:endParaRPr lang="en-US" dirty="0">
              <a:solidFill>
                <a:srgbClr val="2F02F0"/>
              </a:solidFill>
              <a:latin typeface="Courier New" panose="02070309020205020404" pitchFamily="49" charset="0"/>
              <a:ea typeface="MS PGothic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statement executes the module’s code once, then keeps its functions and variables available under its module name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Can access module’s functions and variables through the dot operator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29BD5-1B21-014F-7EB4-CAFB42C97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07" y="4510485"/>
            <a:ext cx="4044244" cy="2092290"/>
          </a:xfrm>
          <a:prstGeom prst="rect">
            <a:avLst/>
          </a:prstGeom>
          <a:ln>
            <a:solidFill>
              <a:srgbClr val="017B3B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33DBF8-E69C-8DD8-72D5-7B893DB26B86}"/>
              </a:ext>
            </a:extLst>
          </p:cNvPr>
          <p:cNvSpPr txBox="1"/>
          <p:nvPr/>
        </p:nvSpPr>
        <p:spPr>
          <a:xfrm>
            <a:off x="5093148" y="4509894"/>
            <a:ext cx="29770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Command-line Output: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 python3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Module name is: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math_utils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Result: 15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FA389C-DB73-7446-04CA-CE3F07C7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444" y="4509894"/>
            <a:ext cx="2965450" cy="1227930"/>
          </a:xfrm>
          <a:prstGeom prst="rect">
            <a:avLst/>
          </a:prstGeom>
          <a:ln>
            <a:solidFill>
              <a:srgbClr val="017B3B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473B9C-3E56-92A8-AE17-F63D7CACE3B1}"/>
              </a:ext>
            </a:extLst>
          </p:cNvPr>
          <p:cNvSpPr txBox="1"/>
          <p:nvPr/>
        </p:nvSpPr>
        <p:spPr>
          <a:xfrm>
            <a:off x="8420877" y="6488668"/>
            <a:ext cx="3771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Taken from Chapter 2 and Chapter 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2BC8C-74B0-D889-2A76-480AD89364CA}"/>
              </a:ext>
            </a:extLst>
          </p:cNvPr>
          <p:cNvSpPr txBox="1"/>
          <p:nvPr/>
        </p:nvSpPr>
        <p:spPr>
          <a:xfrm>
            <a:off x="3384469" y="5855949"/>
            <a:ext cx="4060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sym typeface="Wingdings" pitchFamily="2" charset="2"/>
              </a:rPr>
              <a:t>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False, because __name__ is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math_utils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9057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975E2-C447-FF70-9636-29376E23D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9049-CFA6-07F4-5307-65C6EC87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Modules as Scripts or Import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42B19-E81A-02AC-2A72-83AB76F46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Reminder a Python file is both a module and a script</a:t>
            </a:r>
          </a:p>
          <a:p>
            <a:endParaRPr lang="en-US" sz="1200" dirty="0">
              <a:latin typeface="Calibri" panose="020F0502020204030204" pitchFamily="34" charset="0"/>
              <a:ea typeface="MS PGothic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Executed or Imported modules are distinguished by the global variable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Value of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'__main__'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only when the file is executed directly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Otherwise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the name of the module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ea typeface="MS PGothic" charset="0"/>
              </a:rPr>
              <a:t>In the Python file, check at the bottom using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ea typeface="MS PGothic" charset="0"/>
                <a:cs typeface="Courier New" panose="02070309020205020404" pitchFamily="49" charset="0"/>
              </a:rPr>
              <a:t>if __name__ == '__main__’:</a:t>
            </a:r>
            <a:r>
              <a:rPr lang="en-US" dirty="0">
                <a:ea typeface="MS PGothic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ea typeface="MS PGothic" charset="0"/>
              </a:rPr>
              <a:t>When </a:t>
            </a:r>
            <a:r>
              <a:rPr lang="en-US" b="1" dirty="0">
                <a:ea typeface="MS PGothic" charset="0"/>
              </a:rPr>
              <a:t>True</a:t>
            </a:r>
            <a:r>
              <a:rPr lang="en-US" dirty="0">
                <a:ea typeface="MS PGothic" charset="0"/>
              </a:rPr>
              <a:t>:  Module file is executed as a script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ea typeface="MS PGothic" charset="0"/>
              </a:rPr>
              <a:t>When </a:t>
            </a:r>
            <a:r>
              <a:rPr lang="en-US" b="1" dirty="0">
                <a:ea typeface="MS PGothic" charset="0"/>
              </a:rPr>
              <a:t>False</a:t>
            </a:r>
            <a:r>
              <a:rPr lang="en-US" dirty="0">
                <a:ea typeface="MS PGothic" charset="0"/>
              </a:rPr>
              <a:t>: Module file is being imported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37EC4-DEA4-D188-D809-9E9705F4B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07" y="4510485"/>
            <a:ext cx="4044244" cy="2092290"/>
          </a:xfrm>
          <a:prstGeom prst="rect">
            <a:avLst/>
          </a:prstGeom>
          <a:ln>
            <a:solidFill>
              <a:srgbClr val="017B3B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71BA9C-A2C1-C01D-EA99-1C9D17251038}"/>
              </a:ext>
            </a:extLst>
          </p:cNvPr>
          <p:cNvSpPr txBox="1"/>
          <p:nvPr/>
        </p:nvSpPr>
        <p:spPr>
          <a:xfrm>
            <a:off x="5093148" y="4509894"/>
            <a:ext cx="3084499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Command-line Output: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 python3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math_utils.py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Module name is: __main__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Running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math_utils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directly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+ 3 = 5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$ python3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main.py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Module name is: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math_utils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Result: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40D6DD-2B8A-3625-A883-499535FCA73B}"/>
              </a:ext>
            </a:extLst>
          </p:cNvPr>
          <p:cNvSpPr txBox="1"/>
          <p:nvPr/>
        </p:nvSpPr>
        <p:spPr>
          <a:xfrm>
            <a:off x="8420877" y="6488668"/>
            <a:ext cx="3771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Taken from Chapter 2 and Chapter 6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BAB13C-A25F-7A53-CF81-9A075F1F0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444" y="4509894"/>
            <a:ext cx="2965450" cy="1227930"/>
          </a:xfrm>
          <a:prstGeom prst="rect">
            <a:avLst/>
          </a:prstGeom>
          <a:ln>
            <a:solidFill>
              <a:srgbClr val="017B3B"/>
            </a:solidFill>
          </a:ln>
        </p:spPr>
      </p:pic>
    </p:spTree>
    <p:extLst>
      <p:ext uri="{BB962C8B-B14F-4D97-AF65-F5344CB8AC3E}">
        <p14:creationId xmlns:p14="http://schemas.microsoft.com/office/powerpoint/2010/main" val="865079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C684-11CC-486A-0FE5-F32633EE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182669B-D146-51BC-DDAA-D08008DF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Modules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DD7EA5-35C3-8DDD-5E83-29E17100D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22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D312A3E-483B-569E-4E30-4E4F8A33C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328" y="3889188"/>
            <a:ext cx="7772400" cy="27521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9B6F92-9813-3DB5-0EE1-52975E5B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44E6-3AB5-1BCB-66CA-8DA9F2044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A module is loaded only once per interpreter session, regardless of the number of times it is imported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This is to prevent the module execution from happening repeatedly if multiple imports occur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A dictionary of loaded modules is stored in 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sys.modules</a:t>
            </a:r>
            <a:endParaRPr lang="en-US" dirty="0">
              <a:solidFill>
                <a:srgbClr val="2F02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If the module has not yet been loaded, then a new module object is created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A </a:t>
            </a:r>
            <a:r>
              <a:rPr lang="en-US" dirty="0">
                <a:solidFill>
                  <a:srgbClr val="008000"/>
                </a:solidFill>
                <a:cs typeface="Courier New" panose="02070309020205020404" pitchFamily="49" charset="0"/>
              </a:rPr>
              <a:t>module object </a:t>
            </a:r>
            <a:r>
              <a:rPr lang="en-US" dirty="0">
                <a:cs typeface="Courier New" panose="02070309020205020404" pitchFamily="49" charset="0"/>
              </a:rPr>
              <a:t>is simply a namespace that contains definitions from the module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If the module has already been loaded, then the existing module object is used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855FF-14CB-B573-27DA-A12CE9AA702E}"/>
              </a:ext>
            </a:extLst>
          </p:cNvPr>
          <p:cNvSpPr/>
          <p:nvPr/>
        </p:nvSpPr>
        <p:spPr>
          <a:xfrm>
            <a:off x="2209800" y="3891752"/>
            <a:ext cx="1932432" cy="1128304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272AEE-B24C-FAD5-8E43-1F8C5F3F0F27}"/>
              </a:ext>
            </a:extLst>
          </p:cNvPr>
          <p:cNvSpPr/>
          <p:nvPr/>
        </p:nvSpPr>
        <p:spPr>
          <a:xfrm>
            <a:off x="2209800" y="5168864"/>
            <a:ext cx="7839456" cy="1472518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73D88-8D1F-04A0-455E-197FB88AB6BF}"/>
              </a:ext>
            </a:extLst>
          </p:cNvPr>
          <p:cNvSpPr txBox="1"/>
          <p:nvPr/>
        </p:nvSpPr>
        <p:spPr>
          <a:xfrm>
            <a:off x="9005380" y="6284656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Terminal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6D15E82-86D5-7134-3E9E-5FE587CC943D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1081401" y="5635741"/>
            <a:ext cx="1061343" cy="432034"/>
          </a:xfrm>
          <a:prstGeom prst="straightConnector1">
            <a:avLst/>
          </a:prstGeom>
          <a:ln w="19050">
            <a:solidFill>
              <a:srgbClr val="017B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9F0124-DEFE-7696-FF9B-F497B8D7865B}"/>
              </a:ext>
            </a:extLst>
          </p:cNvPr>
          <p:cNvSpPr txBox="1"/>
          <p:nvPr/>
        </p:nvSpPr>
        <p:spPr>
          <a:xfrm>
            <a:off x="140209" y="4712411"/>
            <a:ext cx="1882383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Notice:</a:t>
            </a:r>
          </a:p>
          <a:p>
            <a:pPr algn="ctr"/>
            <a:r>
              <a:rPr lang="en-US" dirty="0"/>
              <a:t>Only loaded module once.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694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520DA-8AD2-1216-7262-DABEA8A7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E11D49-7A8D-D60E-C2B8-2BE09144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Reloading Modules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F76A7-D20C-F9C8-5C05-17473AF3E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If the source code of an imported module needs to be changed, 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reload()</a:t>
            </a:r>
            <a:r>
              <a:rPr lang="en-US" dirty="0">
                <a:cs typeface="Courier New" panose="02070309020205020404" pitchFamily="49" charset="0"/>
              </a:rPr>
              <a:t> function can be used to reload and re-execute the changed module without stopping the whole program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reload()</a:t>
            </a:r>
            <a:r>
              <a:rPr lang="en-US" dirty="0">
                <a:cs typeface="Courier New" panose="02070309020205020404" pitchFamily="49" charset="0"/>
              </a:rPr>
              <a:t> function imports a previously imported module again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The 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US" dirty="0">
                <a:cs typeface="Courier New" panose="02070309020205020404" pitchFamily="49" charset="0"/>
              </a:rPr>
              <a:t> is the name of the module you want to reload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D0B30-FF4B-C466-7482-E8A0BE6E9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59452"/>
            <a:ext cx="7772400" cy="364652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361DFF-2AAF-A000-8385-C479E53312BB}"/>
              </a:ext>
            </a:extLst>
          </p:cNvPr>
          <p:cNvSpPr/>
          <p:nvPr/>
        </p:nvSpPr>
        <p:spPr>
          <a:xfrm>
            <a:off x="2209800" y="4434840"/>
            <a:ext cx="7839456" cy="2371134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B7E173-46A1-771B-9982-A850FF2D68E4}"/>
              </a:ext>
            </a:extLst>
          </p:cNvPr>
          <p:cNvSpPr/>
          <p:nvPr/>
        </p:nvSpPr>
        <p:spPr>
          <a:xfrm>
            <a:off x="2209800" y="3160232"/>
            <a:ext cx="1932432" cy="1128304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25BE7-02CA-E02E-5C78-F9C65E47C1A2}"/>
              </a:ext>
            </a:extLst>
          </p:cNvPr>
          <p:cNvSpPr txBox="1"/>
          <p:nvPr/>
        </p:nvSpPr>
        <p:spPr>
          <a:xfrm>
            <a:off x="9005380" y="6485824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Terminal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6E19BB1-326F-B0FB-B5CE-BCDABE523F74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1081401" y="5912740"/>
            <a:ext cx="1061343" cy="155035"/>
          </a:xfrm>
          <a:prstGeom prst="straightConnector1">
            <a:avLst/>
          </a:prstGeom>
          <a:ln w="28575">
            <a:solidFill>
              <a:srgbClr val="2F02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60B458B-769C-8FAC-BB69-99BB16743659}"/>
              </a:ext>
            </a:extLst>
          </p:cNvPr>
          <p:cNvSpPr txBox="1"/>
          <p:nvPr/>
        </p:nvSpPr>
        <p:spPr>
          <a:xfrm>
            <a:off x="140209" y="4712411"/>
            <a:ext cx="1882383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/>
              <a:t>Notice:</a:t>
            </a:r>
          </a:p>
          <a:p>
            <a:pPr algn="ctr"/>
            <a:r>
              <a:rPr lang="en-US" dirty="0"/>
              <a:t>Using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reload</a:t>
            </a:r>
            <a:r>
              <a:rPr lang="en-US" dirty="0"/>
              <a:t> to load module again.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9074EC-FABA-0134-1B5C-553505608F70}"/>
              </a:ext>
            </a:extLst>
          </p:cNvPr>
          <p:cNvSpPr/>
          <p:nvPr/>
        </p:nvSpPr>
        <p:spPr>
          <a:xfrm>
            <a:off x="2209800" y="5869694"/>
            <a:ext cx="4575048" cy="923907"/>
          </a:xfrm>
          <a:prstGeom prst="rect">
            <a:avLst/>
          </a:prstGeom>
          <a:noFill/>
          <a:ln w="28575">
            <a:solidFill>
              <a:srgbClr val="2F02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F02F0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EF0C0E-0D30-EC5A-6989-EFDDAA50A7CD}"/>
              </a:ext>
            </a:extLst>
          </p:cNvPr>
          <p:cNvSpPr/>
          <p:nvPr/>
        </p:nvSpPr>
        <p:spPr>
          <a:xfrm>
            <a:off x="5626217" y="3229835"/>
            <a:ext cx="4040791" cy="927033"/>
          </a:xfrm>
          <a:prstGeom prst="roundRect">
            <a:avLst/>
          </a:prstGeom>
          <a:solidFill>
            <a:srgbClr val="D4F0E1"/>
          </a:solidFill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Reloading is useful when the file has changed compared to initial load. </a:t>
            </a:r>
          </a:p>
          <a:p>
            <a:pPr algn="ctr"/>
            <a:r>
              <a:rPr lang="en-US" dirty="0"/>
              <a:t>Essentially, updating the module.</a:t>
            </a:r>
            <a:endParaRPr lang="en-US" dirty="0">
              <a:solidFill>
                <a:srgbClr val="2F02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40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E37FB-C8AA-B5A1-45F1-132E54059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6D6DD36-8345-8DCB-F68B-55CB50392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616"/>
          <a:stretch>
            <a:fillRect/>
          </a:stretch>
        </p:blipFill>
        <p:spPr>
          <a:xfrm>
            <a:off x="3934771" y="2773086"/>
            <a:ext cx="7772400" cy="26158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BCDD5E-E924-16A1-2B03-B56397EA6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686" b="53423"/>
          <a:stretch>
            <a:fillRect/>
          </a:stretch>
        </p:blipFill>
        <p:spPr>
          <a:xfrm>
            <a:off x="368416" y="3017780"/>
            <a:ext cx="2511552" cy="237113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E3B7716-495C-C648-0F2D-D2A672B7F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Reloading Modules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F65C54-0B04-A9DB-B21F-99AC4753A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reload(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module_name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cs typeface="Courier New" panose="02070309020205020404" pitchFamily="49" charset="0"/>
              </a:rPr>
              <a:t> function imports a previously imported module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998B31-2F01-98D1-441A-266B35D159A3}"/>
              </a:ext>
            </a:extLst>
          </p:cNvPr>
          <p:cNvSpPr/>
          <p:nvPr/>
        </p:nvSpPr>
        <p:spPr>
          <a:xfrm>
            <a:off x="368416" y="2993704"/>
            <a:ext cx="2511552" cy="1128304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AA7F5-ABF0-C3FC-B6F9-2CF87768C139}"/>
              </a:ext>
            </a:extLst>
          </p:cNvPr>
          <p:cNvSpPr txBox="1"/>
          <p:nvPr/>
        </p:nvSpPr>
        <p:spPr>
          <a:xfrm>
            <a:off x="10698347" y="5081137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Terminal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E73DAC-C190-D379-7124-1D919BC27235}"/>
              </a:ext>
            </a:extLst>
          </p:cNvPr>
          <p:cNvSpPr/>
          <p:nvPr/>
        </p:nvSpPr>
        <p:spPr>
          <a:xfrm>
            <a:off x="350128" y="4234534"/>
            <a:ext cx="2511552" cy="1128304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2913D9-3C75-51EB-D295-4F151816CFBE}"/>
              </a:ext>
            </a:extLst>
          </p:cNvPr>
          <p:cNvSpPr/>
          <p:nvPr/>
        </p:nvSpPr>
        <p:spPr>
          <a:xfrm>
            <a:off x="3901243" y="2773085"/>
            <a:ext cx="7839456" cy="2615829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ket 16">
            <a:extLst>
              <a:ext uri="{FF2B5EF4-FFF2-40B4-BE49-F238E27FC236}">
                <a16:creationId xmlns:a16="http://schemas.microsoft.com/office/drawing/2014/main" id="{4DC82D3D-D158-0C31-FD5B-B920B9156D2B}"/>
              </a:ext>
            </a:extLst>
          </p:cNvPr>
          <p:cNvSpPr/>
          <p:nvPr/>
        </p:nvSpPr>
        <p:spPr>
          <a:xfrm>
            <a:off x="3767328" y="3511296"/>
            <a:ext cx="248412" cy="877824"/>
          </a:xfrm>
          <a:prstGeom prst="leftBracket">
            <a:avLst/>
          </a:prstGeom>
          <a:ln w="38100">
            <a:solidFill>
              <a:srgbClr val="2F0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1197CB96-853E-A566-8F8B-53926872DCDC}"/>
              </a:ext>
            </a:extLst>
          </p:cNvPr>
          <p:cNvSpPr/>
          <p:nvPr/>
        </p:nvSpPr>
        <p:spPr>
          <a:xfrm>
            <a:off x="3765804" y="4448094"/>
            <a:ext cx="248412" cy="877824"/>
          </a:xfrm>
          <a:prstGeom prst="leftBracket">
            <a:avLst/>
          </a:prstGeom>
          <a:ln w="38100">
            <a:solidFill>
              <a:srgbClr val="2F0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92ACB7-655F-E0AF-002B-278297E49AC2}"/>
              </a:ext>
            </a:extLst>
          </p:cNvPr>
          <p:cNvCxnSpPr>
            <a:stCxn id="6" idx="3"/>
            <a:endCxn id="17" idx="1"/>
          </p:cNvCxnSpPr>
          <p:nvPr/>
        </p:nvCxnSpPr>
        <p:spPr>
          <a:xfrm>
            <a:off x="2879968" y="3557856"/>
            <a:ext cx="887360" cy="392352"/>
          </a:xfrm>
          <a:prstGeom prst="straightConnector1">
            <a:avLst/>
          </a:prstGeom>
          <a:ln w="28575">
            <a:solidFill>
              <a:srgbClr val="2F02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EF151C-58B3-0149-2913-BDAB11E96C2C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>
          <a:xfrm>
            <a:off x="2861680" y="4798686"/>
            <a:ext cx="904124" cy="88320"/>
          </a:xfrm>
          <a:prstGeom prst="straightConnector1">
            <a:avLst/>
          </a:prstGeom>
          <a:ln w="28575">
            <a:solidFill>
              <a:srgbClr val="2F02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025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B08E-7275-0EEC-9DA3-B6218296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92447A-9043-EAEC-ACF9-8A8B5706B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E50A3D-F9FA-0DC3-6C25-C1B865210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33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1446-2DA6-EC11-571A-AD9602960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507CA7-A098-09F0-BA27-F63E814AE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FEB553-1DDC-69E5-8B8D-AD5A91263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lang="en-US" dirty="0">
                <a:cs typeface="Courier New" panose="02070309020205020404" pitchFamily="49" charset="0"/>
              </a:rPr>
              <a:t>Instead of importing a single module at a time, an entire directory of modules can be imported all at once</a:t>
            </a:r>
          </a:p>
          <a:p>
            <a:pPr lvl="1" algn="just">
              <a:spcBef>
                <a:spcPts val="0"/>
              </a:spcBef>
              <a:spcAft>
                <a:spcPts val="300"/>
              </a:spcAft>
            </a:pPr>
            <a:r>
              <a:rPr lang="en-US" dirty="0">
                <a:cs typeface="Courier New" panose="02070309020205020404" pitchFamily="49" charset="0"/>
              </a:rPr>
              <a:t>Python allows you to organize your modules into subfolders called packages where the name of the package is the name of the folder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lang="en-US" dirty="0">
                <a:cs typeface="Courier New" panose="02070309020205020404" pitchFamily="49" charset="0"/>
              </a:rPr>
              <a:t>A </a:t>
            </a:r>
            <a:r>
              <a:rPr lang="en-US" dirty="0">
                <a:solidFill>
                  <a:srgbClr val="008000"/>
                </a:solidFill>
                <a:cs typeface="Courier New" panose="02070309020205020404" pitchFamily="49" charset="0"/>
              </a:rPr>
              <a:t>package</a:t>
            </a:r>
            <a:r>
              <a:rPr lang="en-US" dirty="0">
                <a:cs typeface="Courier New" panose="02070309020205020404" pitchFamily="49" charset="0"/>
              </a:rPr>
              <a:t> is directory organized as a collections of modules</a:t>
            </a:r>
          </a:p>
          <a:p>
            <a:pPr lvl="1" algn="just">
              <a:spcBef>
                <a:spcPts val="0"/>
              </a:spcBef>
              <a:spcAft>
                <a:spcPts val="300"/>
              </a:spcAft>
            </a:pPr>
            <a:r>
              <a:rPr lang="en-US" dirty="0">
                <a:cs typeface="Courier New" panose="02070309020205020404" pitchFamily="49" charset="0"/>
              </a:rPr>
              <a:t>Modules are stored in directories, with each directory containing an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cs typeface="Courier New" panose="02070309020205020404" pitchFamily="49" charset="0"/>
              </a:rPr>
              <a:t> file that tells the interpreter that it is a package directory</a:t>
            </a:r>
          </a:p>
          <a:p>
            <a:pPr lvl="2" algn="just">
              <a:spcBef>
                <a:spcPts val="0"/>
              </a:spcBef>
              <a:spcAft>
                <a:spcPts val="300"/>
              </a:spcAft>
            </a:pPr>
            <a:r>
              <a:rPr lang="en-US" dirty="0">
                <a:cs typeface="Courier New" panose="02070309020205020404" pitchFamily="49" charset="0"/>
              </a:rPr>
              <a:t>The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cs typeface="Courier New" panose="02070309020205020404" pitchFamily="49" charset="0"/>
              </a:rPr>
              <a:t> file is often empty, but may contain code to initialize the package when imported</a:t>
            </a:r>
          </a:p>
          <a:p>
            <a:pPr lvl="1" algn="just">
              <a:spcBef>
                <a:spcPts val="0"/>
              </a:spcBef>
              <a:spcAft>
                <a:spcPts val="300"/>
              </a:spcAft>
            </a:pPr>
            <a:r>
              <a:rPr lang="en-US" dirty="0">
                <a:cs typeface="Courier New" panose="02070309020205020404" pitchFamily="49" charset="0"/>
              </a:rPr>
              <a:t>Each subdirectory of a root package directory is considered a subpackage, but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-US" dirty="0">
                <a:cs typeface="Courier New" panose="02070309020205020404" pitchFamily="49" charset="0"/>
              </a:rPr>
              <a:t> must be present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lang="en-US" dirty="0">
                <a:cs typeface="Courier New" panose="02070309020205020404" pitchFamily="49" charset="0"/>
              </a:rPr>
              <a:t>Python searches through 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sys.path</a:t>
            </a:r>
            <a:r>
              <a:rPr lang="en-US" dirty="0">
                <a:cs typeface="Courier New" panose="02070309020205020404" pitchFamily="49" charset="0"/>
              </a:rPr>
              <a:t> directories for the package subdirectory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129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586B-C722-9135-5A0F-9DA62744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8AA6A-1BB2-DAC7-ECEC-E08CC1E47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17B3B"/>
                </a:solidFill>
              </a:rPr>
              <a:t>package</a:t>
            </a:r>
            <a:r>
              <a:rPr lang="en-US" dirty="0"/>
              <a:t> is a directory of folders that contains related modules.</a:t>
            </a:r>
          </a:p>
          <a:p>
            <a:pPr lvl="1"/>
            <a:r>
              <a:rPr lang="en-US" dirty="0"/>
              <a:t>Commonly, contains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solidFill>
                <a:srgbClr val="2F02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789FAB-D28C-C2AC-B4B5-F2F1A2F1D586}"/>
              </a:ext>
            </a:extLst>
          </p:cNvPr>
          <p:cNvGrpSpPr/>
          <p:nvPr/>
        </p:nvGrpSpPr>
        <p:grpSpPr>
          <a:xfrm>
            <a:off x="2367938" y="1963382"/>
            <a:ext cx="8066314" cy="2786742"/>
            <a:chOff x="1864070" y="1222259"/>
            <a:chExt cx="8066314" cy="2786742"/>
          </a:xfrm>
        </p:grpSpPr>
        <p:sp>
          <p:nvSpPr>
            <p:cNvPr id="4" name="Snip Single Corner Rectangle 3">
              <a:extLst>
                <a:ext uri="{FF2B5EF4-FFF2-40B4-BE49-F238E27FC236}">
                  <a16:creationId xmlns:a16="http://schemas.microsoft.com/office/drawing/2014/main" id="{282AC9F3-E079-7D6A-20E6-443D970A1242}"/>
                </a:ext>
              </a:extLst>
            </p:cNvPr>
            <p:cNvSpPr/>
            <p:nvPr/>
          </p:nvSpPr>
          <p:spPr>
            <a:xfrm>
              <a:off x="8101584" y="1222259"/>
              <a:ext cx="1828800" cy="69668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init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__.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py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Snip Single Corner Rectangle 4">
              <a:extLst>
                <a:ext uri="{FF2B5EF4-FFF2-40B4-BE49-F238E27FC236}">
                  <a16:creationId xmlns:a16="http://schemas.microsoft.com/office/drawing/2014/main" id="{FB4780F4-E7F2-D24F-0FD3-F166D90C383E}"/>
                </a:ext>
              </a:extLst>
            </p:cNvPr>
            <p:cNvSpPr/>
            <p:nvPr/>
          </p:nvSpPr>
          <p:spPr>
            <a:xfrm>
              <a:off x="8101584" y="2267287"/>
              <a:ext cx="1828800" cy="69668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average.py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Snip Single Corner Rectangle 5">
              <a:extLst>
                <a:ext uri="{FF2B5EF4-FFF2-40B4-BE49-F238E27FC236}">
                  <a16:creationId xmlns:a16="http://schemas.microsoft.com/office/drawing/2014/main" id="{D44FCC5A-0CED-9287-1E2D-20C86DBD1FAD}"/>
                </a:ext>
              </a:extLst>
            </p:cNvPr>
            <p:cNvSpPr/>
            <p:nvPr/>
          </p:nvSpPr>
          <p:spPr>
            <a:xfrm>
              <a:off x="8101584" y="3312315"/>
              <a:ext cx="1828800" cy="69668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median.py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Snip Single Corner Rectangle 6">
              <a:extLst>
                <a:ext uri="{FF2B5EF4-FFF2-40B4-BE49-F238E27FC236}">
                  <a16:creationId xmlns:a16="http://schemas.microsoft.com/office/drawing/2014/main" id="{9A30A300-31A4-FD89-3E5E-6C7D66928FAC}"/>
                </a:ext>
              </a:extLst>
            </p:cNvPr>
            <p:cNvSpPr/>
            <p:nvPr/>
          </p:nvSpPr>
          <p:spPr>
            <a:xfrm>
              <a:off x="5020927" y="2267287"/>
              <a:ext cx="1828800" cy="69668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mathdir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6992375-DBAA-F448-8938-0E7AC6E93DA1}"/>
                </a:ext>
              </a:extLst>
            </p:cNvPr>
            <p:cNvCxnSpPr>
              <a:stCxn id="7" idx="0"/>
              <a:endCxn id="4" idx="2"/>
            </p:cNvCxnSpPr>
            <p:nvPr/>
          </p:nvCxnSpPr>
          <p:spPr>
            <a:xfrm flipV="1">
              <a:off x="6849727" y="1570602"/>
              <a:ext cx="1251857" cy="1045028"/>
            </a:xfrm>
            <a:prstGeom prst="line">
              <a:avLst/>
            </a:prstGeom>
            <a:ln w="12700">
              <a:solidFill>
                <a:srgbClr val="017B3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9FB6EA8-D2F2-649B-5C36-80723698AABC}"/>
                </a:ext>
              </a:extLst>
            </p:cNvPr>
            <p:cNvCxnSpPr>
              <a:stCxn id="7" idx="0"/>
              <a:endCxn id="5" idx="2"/>
            </p:cNvCxnSpPr>
            <p:nvPr/>
          </p:nvCxnSpPr>
          <p:spPr>
            <a:xfrm>
              <a:off x="6849727" y="2615630"/>
              <a:ext cx="1251857" cy="0"/>
            </a:xfrm>
            <a:prstGeom prst="line">
              <a:avLst/>
            </a:prstGeom>
            <a:ln w="12700">
              <a:solidFill>
                <a:srgbClr val="2F02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C8E5ADB-32BC-D11F-EC8C-3AC3DF11EC81}"/>
                </a:ext>
              </a:extLst>
            </p:cNvPr>
            <p:cNvCxnSpPr>
              <a:stCxn id="7" idx="0"/>
              <a:endCxn id="6" idx="2"/>
            </p:cNvCxnSpPr>
            <p:nvPr/>
          </p:nvCxnSpPr>
          <p:spPr>
            <a:xfrm>
              <a:off x="6849727" y="2615630"/>
              <a:ext cx="1251857" cy="1045028"/>
            </a:xfrm>
            <a:prstGeom prst="line">
              <a:avLst/>
            </a:prstGeom>
            <a:ln w="12700">
              <a:solidFill>
                <a:srgbClr val="2F02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nip Single Corner Rectangle 10">
              <a:extLst>
                <a:ext uri="{FF2B5EF4-FFF2-40B4-BE49-F238E27FC236}">
                  <a16:creationId xmlns:a16="http://schemas.microsoft.com/office/drawing/2014/main" id="{1D0F9749-5455-7F9D-6F0C-2A5C463EE5AD}"/>
                </a:ext>
              </a:extLst>
            </p:cNvPr>
            <p:cNvSpPr/>
            <p:nvPr/>
          </p:nvSpPr>
          <p:spPr>
            <a:xfrm>
              <a:off x="1864070" y="2267287"/>
              <a:ext cx="2340428" cy="676042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…csce1035/CH-11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4B6610D-B8A4-CD91-582F-B56F805FBDA6}"/>
                </a:ext>
              </a:extLst>
            </p:cNvPr>
            <p:cNvCxnSpPr>
              <a:stCxn id="11" idx="0"/>
              <a:endCxn id="7" idx="2"/>
            </p:cNvCxnSpPr>
            <p:nvPr/>
          </p:nvCxnSpPr>
          <p:spPr>
            <a:xfrm>
              <a:off x="4204498" y="2605308"/>
              <a:ext cx="816429" cy="10322"/>
            </a:xfrm>
            <a:prstGeom prst="line">
              <a:avLst/>
            </a:prstGeom>
            <a:ln w="12700">
              <a:solidFill>
                <a:srgbClr val="017B3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740D5637-A4FB-6BC2-0CB8-C95B79025C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872" b="13047"/>
          <a:stretch>
            <a:fillRect/>
          </a:stretch>
        </p:blipFill>
        <p:spPr>
          <a:xfrm>
            <a:off x="368416" y="5141761"/>
            <a:ext cx="3874516" cy="14518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ECF4FE2-D618-BB77-527F-929C8543372B}"/>
              </a:ext>
            </a:extLst>
          </p:cNvPr>
          <p:cNvSpPr txBox="1"/>
          <p:nvPr/>
        </p:nvSpPr>
        <p:spPr>
          <a:xfrm>
            <a:off x="3159406" y="6285302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Terminal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938F7C-855B-FC3D-F025-E5F14F123614}"/>
              </a:ext>
            </a:extLst>
          </p:cNvPr>
          <p:cNvSpPr/>
          <p:nvPr/>
        </p:nvSpPr>
        <p:spPr>
          <a:xfrm>
            <a:off x="368416" y="5126191"/>
            <a:ext cx="3874517" cy="1488376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926B38-8B67-18D5-CB0F-DEC987E79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28" r="37086" b="46799"/>
          <a:stretch>
            <a:fillRect/>
          </a:stretch>
        </p:blipFill>
        <p:spPr>
          <a:xfrm>
            <a:off x="5945375" y="4828612"/>
            <a:ext cx="2437638" cy="157436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82941D20-9F81-279F-3E14-3E6AA5E0308B}"/>
              </a:ext>
            </a:extLst>
          </p:cNvPr>
          <p:cNvSpPr/>
          <p:nvPr/>
        </p:nvSpPr>
        <p:spPr>
          <a:xfrm>
            <a:off x="5955430" y="4912151"/>
            <a:ext cx="2423216" cy="696686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71564E-9476-4E3A-8FFD-CAFF62D28B96}"/>
              </a:ext>
            </a:extLst>
          </p:cNvPr>
          <p:cNvSpPr/>
          <p:nvPr/>
        </p:nvSpPr>
        <p:spPr>
          <a:xfrm>
            <a:off x="5955430" y="5692374"/>
            <a:ext cx="2423216" cy="696686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27C0754-DD3D-C9BC-9ED7-A2CA5D0CC210}"/>
              </a:ext>
            </a:extLst>
          </p:cNvPr>
          <p:cNvSpPr txBox="1"/>
          <p:nvPr/>
        </p:nvSpPr>
        <p:spPr>
          <a:xfrm>
            <a:off x="5535114" y="269411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DAF878-E8F1-4D33-275F-6BEF3FCEED01}"/>
              </a:ext>
            </a:extLst>
          </p:cNvPr>
          <p:cNvSpPr txBox="1"/>
          <p:nvPr/>
        </p:nvSpPr>
        <p:spPr>
          <a:xfrm>
            <a:off x="8583377" y="165560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Modules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4A2784-6494-1296-C9EA-E8B5245F3DE6}"/>
              </a:ext>
            </a:extLst>
          </p:cNvPr>
          <p:cNvSpPr txBox="1"/>
          <p:nvPr/>
        </p:nvSpPr>
        <p:spPr>
          <a:xfrm>
            <a:off x="4714705" y="5430080"/>
            <a:ext cx="779381" cy="430887"/>
          </a:xfrm>
          <a:prstGeom prst="rect">
            <a:avLst/>
          </a:prstGeom>
          <a:solidFill>
            <a:schemeClr val="bg1"/>
          </a:solidFill>
          <a:ln>
            <a:solidFill>
              <a:srgbClr val="2F02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</a:p>
          <a:p>
            <a:pPr algn="ctr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</a:p>
        </p:txBody>
      </p:sp>
      <p:sp>
        <p:nvSpPr>
          <p:cNvPr id="50" name="Right Bracket 49">
            <a:extLst>
              <a:ext uri="{FF2B5EF4-FFF2-40B4-BE49-F238E27FC236}">
                <a16:creationId xmlns:a16="http://schemas.microsoft.com/office/drawing/2014/main" id="{EDB20234-DFC8-C96B-067B-F553A39F3B06}"/>
              </a:ext>
            </a:extLst>
          </p:cNvPr>
          <p:cNvSpPr/>
          <p:nvPr/>
        </p:nvSpPr>
        <p:spPr>
          <a:xfrm>
            <a:off x="4308331" y="5345751"/>
            <a:ext cx="165365" cy="599546"/>
          </a:xfrm>
          <a:prstGeom prst="rightBracket">
            <a:avLst/>
          </a:prstGeom>
          <a:ln w="19050">
            <a:solidFill>
              <a:srgbClr val="2F02F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Left Bracket 57">
            <a:extLst>
              <a:ext uri="{FF2B5EF4-FFF2-40B4-BE49-F238E27FC236}">
                <a16:creationId xmlns:a16="http://schemas.microsoft.com/office/drawing/2014/main" id="{79DA552C-F170-BB3F-E3B2-22ACA6344D2A}"/>
              </a:ext>
            </a:extLst>
          </p:cNvPr>
          <p:cNvSpPr/>
          <p:nvPr/>
        </p:nvSpPr>
        <p:spPr>
          <a:xfrm>
            <a:off x="5710482" y="5245535"/>
            <a:ext cx="234893" cy="799794"/>
          </a:xfrm>
          <a:prstGeom prst="leftBracket">
            <a:avLst/>
          </a:prstGeom>
          <a:ln w="19050">
            <a:solidFill>
              <a:srgbClr val="2F0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37A6396-92ED-2A19-61FB-1A9A4C714CAE}"/>
              </a:ext>
            </a:extLst>
          </p:cNvPr>
          <p:cNvCxnSpPr>
            <a:stCxn id="50" idx="2"/>
            <a:endCxn id="49" idx="1"/>
          </p:cNvCxnSpPr>
          <p:nvPr/>
        </p:nvCxnSpPr>
        <p:spPr>
          <a:xfrm>
            <a:off x="4473696" y="5645524"/>
            <a:ext cx="241009" cy="0"/>
          </a:xfrm>
          <a:prstGeom prst="line">
            <a:avLst/>
          </a:prstGeom>
          <a:ln w="19050">
            <a:solidFill>
              <a:srgbClr val="2F0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9353302-37DF-8478-5B0B-BAA535324A2C}"/>
              </a:ext>
            </a:extLst>
          </p:cNvPr>
          <p:cNvCxnSpPr>
            <a:cxnSpLocks/>
            <a:stCxn id="49" idx="3"/>
            <a:endCxn id="58" idx="1"/>
          </p:cNvCxnSpPr>
          <p:nvPr/>
        </p:nvCxnSpPr>
        <p:spPr>
          <a:xfrm flipV="1">
            <a:off x="5494086" y="5645432"/>
            <a:ext cx="216396" cy="92"/>
          </a:xfrm>
          <a:prstGeom prst="line">
            <a:avLst/>
          </a:prstGeom>
          <a:ln w="19050">
            <a:solidFill>
              <a:srgbClr val="2F02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057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66237-80CD-578A-DE3A-6DAF0A94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ight Bracket 45">
            <a:extLst>
              <a:ext uri="{FF2B5EF4-FFF2-40B4-BE49-F238E27FC236}">
                <a16:creationId xmlns:a16="http://schemas.microsoft.com/office/drawing/2014/main" id="{6CAB852D-3624-382A-6B2C-7F549B1546B2}"/>
              </a:ext>
            </a:extLst>
          </p:cNvPr>
          <p:cNvSpPr/>
          <p:nvPr/>
        </p:nvSpPr>
        <p:spPr>
          <a:xfrm>
            <a:off x="7353595" y="4633487"/>
            <a:ext cx="362468" cy="1198968"/>
          </a:xfrm>
          <a:prstGeom prst="rightBracket">
            <a:avLst/>
          </a:prstGeom>
          <a:ln w="19050">
            <a:solidFill>
              <a:srgbClr val="2F02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305D0-CA56-A963-37D9-4B8020F4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D96DC-E89B-B2E0-2AC4-306006ED2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17B3B"/>
                </a:solidFill>
              </a:rPr>
              <a:t>package</a:t>
            </a:r>
            <a:r>
              <a:rPr lang="en-US" dirty="0"/>
              <a:t> is a directory of folders that contains related modules.</a:t>
            </a:r>
          </a:p>
          <a:p>
            <a:pPr lvl="1"/>
            <a:r>
              <a:rPr lang="en-US" dirty="0"/>
              <a:t>Commonly, contains 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dirty="0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__.</a:t>
            </a:r>
            <a:r>
              <a:rPr lang="en-US" dirty="0" err="1">
                <a:solidFill>
                  <a:srgbClr val="2F02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en-US" dirty="0">
              <a:solidFill>
                <a:srgbClr val="2F02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86413F3-1AAF-2BC9-1573-6D9546AF7227}"/>
              </a:ext>
            </a:extLst>
          </p:cNvPr>
          <p:cNvGrpSpPr/>
          <p:nvPr/>
        </p:nvGrpSpPr>
        <p:grpSpPr>
          <a:xfrm>
            <a:off x="2367938" y="1963382"/>
            <a:ext cx="8066314" cy="2786742"/>
            <a:chOff x="1864070" y="1222259"/>
            <a:chExt cx="8066314" cy="2786742"/>
          </a:xfrm>
        </p:grpSpPr>
        <p:sp>
          <p:nvSpPr>
            <p:cNvPr id="4" name="Snip Single Corner Rectangle 3">
              <a:extLst>
                <a:ext uri="{FF2B5EF4-FFF2-40B4-BE49-F238E27FC236}">
                  <a16:creationId xmlns:a16="http://schemas.microsoft.com/office/drawing/2014/main" id="{B7158356-53B9-91B2-AF6C-ED6D1475E8D8}"/>
                </a:ext>
              </a:extLst>
            </p:cNvPr>
            <p:cNvSpPr/>
            <p:nvPr/>
          </p:nvSpPr>
          <p:spPr>
            <a:xfrm>
              <a:off x="8101584" y="1222259"/>
              <a:ext cx="1828800" cy="69668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init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__.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py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Snip Single Corner Rectangle 4">
              <a:extLst>
                <a:ext uri="{FF2B5EF4-FFF2-40B4-BE49-F238E27FC236}">
                  <a16:creationId xmlns:a16="http://schemas.microsoft.com/office/drawing/2014/main" id="{E4D54879-C7F6-08EA-0E7D-7FC4E0FF7F22}"/>
                </a:ext>
              </a:extLst>
            </p:cNvPr>
            <p:cNvSpPr/>
            <p:nvPr/>
          </p:nvSpPr>
          <p:spPr>
            <a:xfrm>
              <a:off x="8101584" y="2267287"/>
              <a:ext cx="1828800" cy="69668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average.py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Snip Single Corner Rectangle 5">
              <a:extLst>
                <a:ext uri="{FF2B5EF4-FFF2-40B4-BE49-F238E27FC236}">
                  <a16:creationId xmlns:a16="http://schemas.microsoft.com/office/drawing/2014/main" id="{32E3C695-6E74-A80A-07F6-CDFF4050F785}"/>
                </a:ext>
              </a:extLst>
            </p:cNvPr>
            <p:cNvSpPr/>
            <p:nvPr/>
          </p:nvSpPr>
          <p:spPr>
            <a:xfrm>
              <a:off x="8101584" y="3312315"/>
              <a:ext cx="1828800" cy="69668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median.py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Snip Single Corner Rectangle 6">
              <a:extLst>
                <a:ext uri="{FF2B5EF4-FFF2-40B4-BE49-F238E27FC236}">
                  <a16:creationId xmlns:a16="http://schemas.microsoft.com/office/drawing/2014/main" id="{E6786DED-B902-8C9B-9276-16EE50F3E2C3}"/>
                </a:ext>
              </a:extLst>
            </p:cNvPr>
            <p:cNvSpPr/>
            <p:nvPr/>
          </p:nvSpPr>
          <p:spPr>
            <a:xfrm>
              <a:off x="5020927" y="2267287"/>
              <a:ext cx="1828800" cy="69668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mathdir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3E76EB8-BCA3-FA61-C97E-FACF32444C90}"/>
                </a:ext>
              </a:extLst>
            </p:cNvPr>
            <p:cNvCxnSpPr>
              <a:stCxn id="7" idx="0"/>
              <a:endCxn id="4" idx="2"/>
            </p:cNvCxnSpPr>
            <p:nvPr/>
          </p:nvCxnSpPr>
          <p:spPr>
            <a:xfrm flipV="1">
              <a:off x="6849727" y="1570602"/>
              <a:ext cx="1251857" cy="1045028"/>
            </a:xfrm>
            <a:prstGeom prst="line">
              <a:avLst/>
            </a:prstGeom>
            <a:ln w="12700">
              <a:solidFill>
                <a:srgbClr val="2F02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00FFEA-C7FA-B836-27A1-366DB14896CE}"/>
                </a:ext>
              </a:extLst>
            </p:cNvPr>
            <p:cNvCxnSpPr>
              <a:stCxn id="7" idx="0"/>
              <a:endCxn id="5" idx="2"/>
            </p:cNvCxnSpPr>
            <p:nvPr/>
          </p:nvCxnSpPr>
          <p:spPr>
            <a:xfrm>
              <a:off x="6849727" y="2615630"/>
              <a:ext cx="1251857" cy="0"/>
            </a:xfrm>
            <a:prstGeom prst="line">
              <a:avLst/>
            </a:prstGeom>
            <a:ln w="12700">
              <a:solidFill>
                <a:srgbClr val="017B3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0351557-C6CD-096B-9BD3-006A32DE392D}"/>
                </a:ext>
              </a:extLst>
            </p:cNvPr>
            <p:cNvCxnSpPr>
              <a:stCxn id="7" idx="0"/>
              <a:endCxn id="6" idx="2"/>
            </p:cNvCxnSpPr>
            <p:nvPr/>
          </p:nvCxnSpPr>
          <p:spPr>
            <a:xfrm>
              <a:off x="6849727" y="2615630"/>
              <a:ext cx="1251857" cy="1045028"/>
            </a:xfrm>
            <a:prstGeom prst="line">
              <a:avLst/>
            </a:prstGeom>
            <a:ln w="12700">
              <a:solidFill>
                <a:srgbClr val="017B3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nip Single Corner Rectangle 10">
              <a:extLst>
                <a:ext uri="{FF2B5EF4-FFF2-40B4-BE49-F238E27FC236}">
                  <a16:creationId xmlns:a16="http://schemas.microsoft.com/office/drawing/2014/main" id="{C988762A-2A32-9172-8E14-B17AC4E755B6}"/>
                </a:ext>
              </a:extLst>
            </p:cNvPr>
            <p:cNvSpPr/>
            <p:nvPr/>
          </p:nvSpPr>
          <p:spPr>
            <a:xfrm>
              <a:off x="1864070" y="2267287"/>
              <a:ext cx="2340428" cy="676042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017B3B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…csce1035/CH-11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69ACE9E-8C2C-D98D-77C5-96736C23B777}"/>
                </a:ext>
              </a:extLst>
            </p:cNvPr>
            <p:cNvCxnSpPr>
              <a:stCxn id="11" idx="0"/>
              <a:endCxn id="7" idx="2"/>
            </p:cNvCxnSpPr>
            <p:nvPr/>
          </p:nvCxnSpPr>
          <p:spPr>
            <a:xfrm>
              <a:off x="4204498" y="2605308"/>
              <a:ext cx="816429" cy="10322"/>
            </a:xfrm>
            <a:prstGeom prst="line">
              <a:avLst/>
            </a:prstGeom>
            <a:ln w="12700">
              <a:solidFill>
                <a:srgbClr val="017B3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BDFCFBD-D4AA-302D-BAA5-9A7A953C5A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121"/>
          <a:stretch>
            <a:fillRect/>
          </a:stretch>
        </p:blipFill>
        <p:spPr>
          <a:xfrm>
            <a:off x="367012" y="5069396"/>
            <a:ext cx="3874516" cy="6091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5F90A37-D0CF-F62B-49F8-3BE2813C1B61}"/>
              </a:ext>
            </a:extLst>
          </p:cNvPr>
          <p:cNvSpPr txBox="1"/>
          <p:nvPr/>
        </p:nvSpPr>
        <p:spPr>
          <a:xfrm>
            <a:off x="3199178" y="5370735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Terminal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0135905-602E-6502-C769-49C24D38296A}"/>
              </a:ext>
            </a:extLst>
          </p:cNvPr>
          <p:cNvSpPr/>
          <p:nvPr/>
        </p:nvSpPr>
        <p:spPr>
          <a:xfrm>
            <a:off x="367012" y="5002470"/>
            <a:ext cx="3874517" cy="676042"/>
          </a:xfrm>
          <a:prstGeom prst="rect">
            <a:avLst/>
          </a:prstGeom>
          <a:noFill/>
          <a:ln w="28575">
            <a:solidFill>
              <a:srgbClr val="017B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8C77315-2C8F-817F-3DF8-46ADBEED8140}"/>
              </a:ext>
            </a:extLst>
          </p:cNvPr>
          <p:cNvGrpSpPr/>
          <p:nvPr/>
        </p:nvGrpSpPr>
        <p:grpSpPr>
          <a:xfrm>
            <a:off x="4895196" y="4221369"/>
            <a:ext cx="2437638" cy="2334826"/>
            <a:chOff x="4915281" y="3850503"/>
            <a:chExt cx="2437638" cy="233482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A21A645-AF40-C68E-5B55-A891603EA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7086" b="46799"/>
            <a:stretch>
              <a:fillRect/>
            </a:stretch>
          </p:blipFill>
          <p:spPr>
            <a:xfrm>
              <a:off x="4915281" y="3850503"/>
              <a:ext cx="2437638" cy="2334826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2D09EBD-B60B-8A0A-2B07-A1D700259403}"/>
                </a:ext>
              </a:extLst>
            </p:cNvPr>
            <p:cNvSpPr/>
            <p:nvPr/>
          </p:nvSpPr>
          <p:spPr>
            <a:xfrm>
              <a:off x="4925336" y="3914279"/>
              <a:ext cx="2423216" cy="696686"/>
            </a:xfrm>
            <a:prstGeom prst="rect">
              <a:avLst/>
            </a:prstGeom>
            <a:noFill/>
            <a:ln w="28575">
              <a:solidFill>
                <a:srgbClr val="017B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F37A5F3-AAA6-5ED3-F5C6-278C3A921CB0}"/>
                </a:ext>
              </a:extLst>
            </p:cNvPr>
            <p:cNvSpPr/>
            <p:nvPr/>
          </p:nvSpPr>
          <p:spPr>
            <a:xfrm>
              <a:off x="4925336" y="4694502"/>
              <a:ext cx="2423216" cy="696686"/>
            </a:xfrm>
            <a:prstGeom prst="rect">
              <a:avLst/>
            </a:prstGeom>
            <a:noFill/>
            <a:ln w="28575">
              <a:solidFill>
                <a:srgbClr val="017B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3354CBB-2FA4-939A-8E0D-568FD3C47CF7}"/>
                </a:ext>
              </a:extLst>
            </p:cNvPr>
            <p:cNvSpPr/>
            <p:nvPr/>
          </p:nvSpPr>
          <p:spPr>
            <a:xfrm>
              <a:off x="4925336" y="5474725"/>
              <a:ext cx="2423216" cy="696686"/>
            </a:xfrm>
            <a:prstGeom prst="rect">
              <a:avLst/>
            </a:prstGeom>
            <a:noFill/>
            <a:ln w="28575">
              <a:solidFill>
                <a:srgbClr val="017B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E78F176A-9EDE-D955-DBED-A4190FC58912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2233061" y="4633487"/>
            <a:ext cx="2672190" cy="536027"/>
          </a:xfrm>
          <a:prstGeom prst="bentConnector3">
            <a:avLst>
              <a:gd name="adj1" fmla="val 71387"/>
            </a:avLst>
          </a:prstGeom>
          <a:ln w="19050">
            <a:solidFill>
              <a:srgbClr val="2F02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02F7CF-BAC4-5BCF-A77F-2A4CE8F3DA18}"/>
              </a:ext>
            </a:extLst>
          </p:cNvPr>
          <p:cNvSpPr txBox="1"/>
          <p:nvPr/>
        </p:nvSpPr>
        <p:spPr>
          <a:xfrm>
            <a:off x="5535114" y="269411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509A88-F521-C581-87FE-951622D12531}"/>
              </a:ext>
            </a:extLst>
          </p:cNvPr>
          <p:cNvSpPr txBox="1"/>
          <p:nvPr/>
        </p:nvSpPr>
        <p:spPr>
          <a:xfrm>
            <a:off x="8583377" y="1655605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Modules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11F242-1889-ACA2-0053-D11D98ED8A55}"/>
              </a:ext>
            </a:extLst>
          </p:cNvPr>
          <p:cNvSpPr txBox="1"/>
          <p:nvPr/>
        </p:nvSpPr>
        <p:spPr>
          <a:xfrm>
            <a:off x="3462147" y="4420738"/>
            <a:ext cx="779381" cy="430887"/>
          </a:xfrm>
          <a:prstGeom prst="rect">
            <a:avLst/>
          </a:prstGeom>
          <a:solidFill>
            <a:schemeClr val="bg1"/>
          </a:solidFill>
          <a:ln>
            <a:solidFill>
              <a:srgbClr val="2F02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</a:p>
          <a:p>
            <a:pPr algn="ctr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8E3C3DE-1A6D-5B38-568E-8083B07350AF}"/>
              </a:ext>
            </a:extLst>
          </p:cNvPr>
          <p:cNvSpPr/>
          <p:nvPr/>
        </p:nvSpPr>
        <p:spPr>
          <a:xfrm>
            <a:off x="7353595" y="5293612"/>
            <a:ext cx="153792" cy="10751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ket 42">
            <a:extLst>
              <a:ext uri="{FF2B5EF4-FFF2-40B4-BE49-F238E27FC236}">
                <a16:creationId xmlns:a16="http://schemas.microsoft.com/office/drawing/2014/main" id="{E5440CD9-ED42-F3EA-4033-FE56EB6C443D}"/>
              </a:ext>
            </a:extLst>
          </p:cNvPr>
          <p:cNvSpPr/>
          <p:nvPr/>
        </p:nvSpPr>
        <p:spPr>
          <a:xfrm>
            <a:off x="7346755" y="5414563"/>
            <a:ext cx="160631" cy="780222"/>
          </a:xfrm>
          <a:prstGeom prst="rightBracket">
            <a:avLst/>
          </a:prstGeom>
          <a:noFill/>
          <a:ln w="19050">
            <a:solidFill>
              <a:srgbClr val="2F02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7A85B2-394E-C07E-58B4-BCADA39ED1A0}"/>
              </a:ext>
            </a:extLst>
          </p:cNvPr>
          <p:cNvSpPr txBox="1"/>
          <p:nvPr/>
        </p:nvSpPr>
        <p:spPr>
          <a:xfrm>
            <a:off x="7589685" y="5070493"/>
            <a:ext cx="779381" cy="430887"/>
          </a:xfrm>
          <a:prstGeom prst="rect">
            <a:avLst/>
          </a:prstGeom>
          <a:solidFill>
            <a:schemeClr val="bg1"/>
          </a:solidFill>
          <a:ln>
            <a:solidFill>
              <a:srgbClr val="2F02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</a:p>
          <a:p>
            <a:pPr algn="ctr"/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Package</a:t>
            </a:r>
          </a:p>
        </p:txBody>
      </p:sp>
      <p:sp>
        <p:nvSpPr>
          <p:cNvPr id="27" name="Right Bracket 26">
            <a:extLst>
              <a:ext uri="{FF2B5EF4-FFF2-40B4-BE49-F238E27FC236}">
                <a16:creationId xmlns:a16="http://schemas.microsoft.com/office/drawing/2014/main" id="{12D5A8E8-B9FA-E181-010F-8E885E38182F}"/>
              </a:ext>
            </a:extLst>
          </p:cNvPr>
          <p:cNvSpPr/>
          <p:nvPr/>
        </p:nvSpPr>
        <p:spPr>
          <a:xfrm>
            <a:off x="10580163" y="2311725"/>
            <a:ext cx="362468" cy="1644512"/>
          </a:xfrm>
          <a:prstGeom prst="rightBracket">
            <a:avLst/>
          </a:prstGeom>
          <a:ln w="9525">
            <a:solidFill>
              <a:srgbClr val="2F02F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8" name="Right Bracket 27">
            <a:extLst>
              <a:ext uri="{FF2B5EF4-FFF2-40B4-BE49-F238E27FC236}">
                <a16:creationId xmlns:a16="http://schemas.microsoft.com/office/drawing/2014/main" id="{1537BB1F-6638-99F7-F266-C2978156CCE1}"/>
              </a:ext>
            </a:extLst>
          </p:cNvPr>
          <p:cNvSpPr/>
          <p:nvPr/>
        </p:nvSpPr>
        <p:spPr>
          <a:xfrm>
            <a:off x="10434252" y="3401191"/>
            <a:ext cx="160631" cy="1097827"/>
          </a:xfrm>
          <a:prstGeom prst="rightBracket">
            <a:avLst/>
          </a:prstGeom>
          <a:noFill/>
          <a:ln w="9525">
            <a:solidFill>
              <a:srgbClr val="2F02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29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A09C-C1E5-7C85-FE14-02D1D6A2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9382EC-5642-41DC-998E-D93A05F0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Library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AC1CB4-0C82-8616-4484-28D2EE725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71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D5E3-A57A-0FD3-AC55-0AFBCD47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7377C-9708-0B38-4CB7-E3F0FEBA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Standard Library Modules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CD5DC99-1521-48D6-C9BB-139BC64EB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573502"/>
              </p:ext>
            </p:extLst>
          </p:nvPr>
        </p:nvGraphicFramePr>
        <p:xfrm>
          <a:off x="838200" y="1044871"/>
          <a:ext cx="10515600" cy="53790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2613">
                  <a:extLst>
                    <a:ext uri="{9D8B030D-6E8A-4147-A177-3AD203B41FA5}">
                      <a16:colId xmlns:a16="http://schemas.microsoft.com/office/drawing/2014/main" val="907846769"/>
                    </a:ext>
                  </a:extLst>
                </a:gridCol>
                <a:gridCol w="5772330">
                  <a:extLst>
                    <a:ext uri="{9D8B030D-6E8A-4147-A177-3AD203B41FA5}">
                      <a16:colId xmlns:a16="http://schemas.microsoft.com/office/drawing/2014/main" val="193141464"/>
                    </a:ext>
                  </a:extLst>
                </a:gridCol>
                <a:gridCol w="3690657">
                  <a:extLst>
                    <a:ext uri="{9D8B030D-6E8A-4147-A177-3AD203B41FA5}">
                      <a16:colId xmlns:a16="http://schemas.microsoft.com/office/drawing/2014/main" val="13596436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Module name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Documentation link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18502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datetime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Creation and editing of dates and times objects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2"/>
                        </a:rPr>
                        <a:t>https://docs.python.org/3/library/datetime.html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6727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random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Functions for working with random numbers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3"/>
                        </a:rPr>
                        <a:t>https://docs.python.org/3/library/random.html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53748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copy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Create complete copies of objects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4"/>
                        </a:rPr>
                        <a:t>https://docs.python.org/3/library/copy.html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462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time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Get the current time, convert time zones, sleep for a number of seconds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5"/>
                        </a:rPr>
                        <a:t>https://docs.python.org/3/library/time.html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546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math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Mathematical functions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6"/>
                        </a:rPr>
                        <a:t>https://docs.python.org/3/library/math.html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6864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os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Operating system informational and management helpers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7"/>
                        </a:rPr>
                        <a:t>https://docs.python.org/3/library/os.html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0365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System specific environment or configuration helpers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8"/>
                        </a:rPr>
                        <a:t>https://docs.python.org/3/library/sys.html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64399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pdb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The Python interactive debugger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9"/>
                        </a:rPr>
                        <a:t>https://docs.python.org/3/library/pdb.html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43217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urllib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URL handling functions, such as requesting web pages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10"/>
                        </a:rPr>
                        <a:t>https://docs.python.org/3/library/urllib.html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003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A </a:t>
                      </a:r>
                      <a:r>
                        <a:rPr lang="en-US" sz="1400" b="0" i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lightweight data interchange format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11"/>
                        </a:rPr>
                        <a:t>https://docs.python.org/3/library/json.html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3020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A regular expression (or RE) specifies a set of strings for pattern matching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12"/>
                        </a:rPr>
                        <a:t>https://docs.python.org/3/library/re.html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6742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statistics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Functions for calculating mathematical statistics of numeric data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13"/>
                        </a:rPr>
                        <a:t>https://docs.python.org/3/library/statistics.html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6468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pickle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 F</a:t>
                      </a:r>
                      <a:r>
                        <a:rPr lang="en-US" sz="1400" b="0" i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 serializing and de-serializing a Python object structure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  </a:t>
                      </a: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hlinkClick r:id="rId14"/>
                        </a:rPr>
                        <a:t>https://docs.python.org/3/library/pickle.html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541691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5139286-66AE-1498-529D-A6CD91E53562}"/>
              </a:ext>
            </a:extLst>
          </p:cNvPr>
          <p:cNvSpPr txBox="1"/>
          <p:nvPr/>
        </p:nvSpPr>
        <p:spPr>
          <a:xfrm>
            <a:off x="2705777" y="6456716"/>
            <a:ext cx="6780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 more libraries here: </a:t>
            </a:r>
            <a:r>
              <a:rPr lang="en-US" dirty="0">
                <a:hlinkClick r:id="rId15"/>
              </a:rPr>
              <a:t>https://docs.python.org/3/library/index.html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16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BEEE-043D-67B2-5BC5-027452AE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Battleship -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B66E-ED33-3F73-1D4D-F0B9D003D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16" y="1222259"/>
            <a:ext cx="10985383" cy="4985593"/>
          </a:xfrm>
        </p:spPr>
        <p:txBody>
          <a:bodyPr/>
          <a:lstStyle/>
          <a:p>
            <a:r>
              <a:rPr lang="en-US" dirty="0"/>
              <a:t>Let’s create separate modules for the Battleship</a:t>
            </a:r>
            <a:endParaRPr lang="en-US" dirty="0">
              <a:cs typeface="Courier New" panose="02070309020205020404" pitchFamily="49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Simplifies the code allowing for readability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Improves organization to separate out different parts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Allows for reusability for different games that could use the same functions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Modules to create: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Error logic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Game/menu logic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Print/log options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ourier New" panose="02070309020205020404" pitchFamily="49" charset="0"/>
              </a:rPr>
              <a:t>Go to Canvas &gt; Files &gt; Code and download the </a:t>
            </a:r>
            <a:r>
              <a:rPr lang="en-US" dirty="0" err="1">
                <a:cs typeface="Courier New" panose="02070309020205020404" pitchFamily="49" charset="0"/>
              </a:rPr>
              <a:t>battleships.py</a:t>
            </a:r>
            <a:r>
              <a:rPr lang="en-US" dirty="0">
                <a:cs typeface="Courier New" panose="02070309020205020404" pitchFamily="49" charset="0"/>
              </a:rPr>
              <a:t> code.</a:t>
            </a:r>
          </a:p>
        </p:txBody>
      </p:sp>
    </p:spTree>
    <p:extLst>
      <p:ext uri="{BB962C8B-B14F-4D97-AF65-F5344CB8AC3E}">
        <p14:creationId xmlns:p14="http://schemas.microsoft.com/office/powerpoint/2010/main" val="3761920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92B4CFB1DABA4CBDFE28A427A3C1B8" ma:contentTypeVersion="18" ma:contentTypeDescription="Create a new document." ma:contentTypeScope="" ma:versionID="106ae2ed71f08b34c4dbcfebfd94a3b6">
  <xsd:schema xmlns:xsd="http://www.w3.org/2001/XMLSchema" xmlns:xs="http://www.w3.org/2001/XMLSchema" xmlns:p="http://schemas.microsoft.com/office/2006/metadata/properties" xmlns:ns3="166a02ee-ea15-43d9-a183-617144e592a4" xmlns:ns4="ead25e7e-21cf-4e32-be58-492f534b651f" targetNamespace="http://schemas.microsoft.com/office/2006/metadata/properties" ma:root="true" ma:fieldsID="af2cc2e7193d5a29ffe68bf66dafa845" ns3:_="" ns4:_="">
    <xsd:import namespace="166a02ee-ea15-43d9-a183-617144e592a4"/>
    <xsd:import namespace="ead25e7e-21cf-4e32-be58-492f534b65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6a02ee-ea15-43d9-a183-617144e592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d25e7e-21cf-4e32-be58-492f534b65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6a02ee-ea15-43d9-a183-617144e592a4" xsi:nil="true"/>
  </documentManagement>
</p:properties>
</file>

<file path=customXml/itemProps1.xml><?xml version="1.0" encoding="utf-8"?>
<ds:datastoreItem xmlns:ds="http://schemas.openxmlformats.org/officeDocument/2006/customXml" ds:itemID="{F320B74F-D998-4AAC-BF01-E213F27840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F4A92C-9EEB-4B85-BB39-A7E7D45FC2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6a02ee-ea15-43d9-a183-617144e592a4"/>
    <ds:schemaRef ds:uri="ead25e7e-21cf-4e32-be58-492f534b65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D36917F-55AC-4635-8BDD-8EE02D098130}">
  <ds:schemaRefs>
    <ds:schemaRef ds:uri="ead25e7e-21cf-4e32-be58-492f534b651f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166a02ee-ea15-43d9-a183-617144e592a4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37f4b8a2-ad4f-41b5-9a91-284d2cc38f56}" enabled="1" method="Privilege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23906</TotalTime>
  <Words>1813</Words>
  <Application>Microsoft Macintosh PowerPoint</Application>
  <PresentationFormat>Widescreen</PresentationFormat>
  <Paragraphs>246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MS PGothic</vt:lpstr>
      <vt:lpstr>Aptos</vt:lpstr>
      <vt:lpstr>Aptos Narrow</vt:lpstr>
      <vt:lpstr>Arial</vt:lpstr>
      <vt:lpstr>Calibri</vt:lpstr>
      <vt:lpstr>Calibri Light</vt:lpstr>
      <vt:lpstr>Courier New</vt:lpstr>
      <vt:lpstr>Wingdings</vt:lpstr>
      <vt:lpstr>Office Theme</vt:lpstr>
      <vt:lpstr>CSCE 1035 – Computer Programming I</vt:lpstr>
      <vt:lpstr>Modules</vt:lpstr>
      <vt:lpstr>What is a Module?</vt:lpstr>
      <vt:lpstr>Using Importing Modules</vt:lpstr>
      <vt:lpstr>Finding Modules</vt:lpstr>
      <vt:lpstr>Locating Modules</vt:lpstr>
      <vt:lpstr>Locating Modules</vt:lpstr>
      <vt:lpstr>Import Specific Names</vt:lpstr>
      <vt:lpstr>Importing Specific Names</vt:lpstr>
      <vt:lpstr>Executing Modules as Script</vt:lpstr>
      <vt:lpstr>Executing Modules as Import</vt:lpstr>
      <vt:lpstr>Executing Modules as Scripts or Import</vt:lpstr>
      <vt:lpstr>Loading Modules</vt:lpstr>
      <vt:lpstr>Loading Modules</vt:lpstr>
      <vt:lpstr>Reloading Modules</vt:lpstr>
      <vt:lpstr>Reloading Modules</vt:lpstr>
      <vt:lpstr>Packages</vt:lpstr>
      <vt:lpstr>Packages</vt:lpstr>
      <vt:lpstr>Packages</vt:lpstr>
      <vt:lpstr>Packages</vt:lpstr>
      <vt:lpstr>Standard Library</vt:lpstr>
      <vt:lpstr>Common Standard Library Modules</vt:lpstr>
      <vt:lpstr>Battleship - Modules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Carrillo, Dominic</dc:creator>
  <cp:lastModifiedBy>Carrillo, Dominic</cp:lastModifiedBy>
  <cp:revision>26</cp:revision>
  <dcterms:created xsi:type="dcterms:W3CDTF">2023-04-18T15:14:21Z</dcterms:created>
  <dcterms:modified xsi:type="dcterms:W3CDTF">2025-11-03T23:01:33Z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0x010100A892B4CFB1DABA4CBDFE28A427A3C1B8</vt:lpwstr>
  </property>
</Properties>
</file>